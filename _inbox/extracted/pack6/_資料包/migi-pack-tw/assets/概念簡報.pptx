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月淨利</c:v>
                </c:pt>
              </c:strCache>
            </c:strRef>
          </c:tx>
          <c:spPr>
            <a:solidFill>
              <a:srgbClr val="D7A0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0BDC8"/>
                    </a:solidFill>
                    <a:latin typeface="Microsoft Jheng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20%</c:v>
                  </c:pt>
                  <c:pt idx="1">
                    <c:v>30%</c:v>
                  </c:pt>
                  <c:pt idx="2">
                    <c:v>40%</c:v>
                  </c:pt>
                  <c:pt idx="3">
                    <c:v>50%</c:v>
                  </c:pt>
                  <c:pt idx="4">
                    <c:v>60%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12600</c:v>
                </c:pt>
                <c:pt idx="1">
                  <c:v>185400</c:v>
                </c:pt>
                <c:pt idx="2">
                  <c:v>358200</c:v>
                </c:pt>
                <c:pt idx="3">
                  <c:v>531000</c:v>
                </c:pt>
                <c:pt idx="4">
                  <c:v>703800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0BDC8"/>
                  </a:solidFill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A3AB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F31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3A3A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A20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D7A0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291840" cy="3291840"/>
          </a:xfrm>
          <a:prstGeom prst="ellipse">
            <a:avLst/>
          </a:prstGeom>
          <a:solidFill>
            <a:srgbClr val="C87E92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 業 概 念 簡 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4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麻將連鎖 · Girls Play Together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以麻將競技為核心的生活娛樂連鎖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 × 配桌 × 競技 × 內容 × 商品 — 一個會自我增強的飛輪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06440"/>
            <a:ext cx="12161520" cy="1051560"/>
          </a:xfrm>
          <a:prstGeom prst="rect">
            <a:avLst/>
          </a:prstGeom>
          <a:solidFill>
            <a:srgbClr val="1A1518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C6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品牌視覺 · BRAND IDENTITY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1996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品牌形象 — 店面 · CIS · 視覺識別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為什麼是現在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市場機會:一塊沒人佔的空地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亞洲只有日本把麻將館連鎖化、系統化。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台灣滿街麻將館,卻幾乎沒有「品牌連鎖」,且整個品類處於法律與社會觀感的灰色地帶。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需求存在、但無人系統化與品牌化的空白市場。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0" y="1828800"/>
            <a:ext cx="28803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93852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40+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9436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 マーチャオ 店數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052560" y="1828800"/>
            <a:ext cx="28803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052560" y="193852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20+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05256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經營年數(年)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3383280"/>
            <a:ext cx="28803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34930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10萬+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5943600" y="4251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註冊會員數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052560" y="3383280"/>
            <a:ext cx="28803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052560" y="34930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7E9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9052560" y="4251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台灣全國連鎖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5074920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マーチャオ 已證明這套模式跑得通 —— 台灣這塊還是空的。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不是一間麻將館,是一個娛樂集團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12848"/>
            <a:ext cx="731520" cy="731520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373782"/>
            <a:ext cx="409651" cy="4096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教室養成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737360" y="26334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培養新手、開課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80560" y="19202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2212848"/>
            <a:ext cx="731520" cy="731520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094" y="2373782"/>
            <a:ext cx="409651" cy="4096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 · 配桌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577840" y="26334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場地與智慧媒合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321040" y="19202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49640" y="2212848"/>
            <a:ext cx="731520" cy="731520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0574" y="2373782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18320" y="21762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競技 · 段位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418320" y="26334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賽事與全國排名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35204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68680" y="3813048"/>
            <a:ext cx="731520" cy="731520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" y="3973982"/>
            <a:ext cx="409651" cy="40965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37360" y="37764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 · 明星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737360" y="4233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直播與 IP 養成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480560" y="35204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709160" y="3813048"/>
            <a:ext cx="731520" cy="731520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094" y="3973982"/>
            <a:ext cx="409651" cy="40965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77840" y="37764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 · 聯名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5577840" y="4233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麻將尺、IP 限定款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321040" y="352044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549640" y="3813048"/>
            <a:ext cx="731520" cy="731520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0574" y="3973982"/>
            <a:ext cx="409651" cy="40965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18320" y="37764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車隊 · 接送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9418320" y="42336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解決交通、黏著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六個業務臂,環繞同一個「大數據 + 會員」引擎互相餵養。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核心模型:生態系飛輪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51960" y="2011680"/>
            <a:ext cx="3657600" cy="3657600"/>
          </a:xfrm>
          <a:prstGeom prst="ellipse">
            <a:avLst/>
          </a:prstGeom>
          <a:solidFill>
            <a:srgbClr val="1A1518"/>
          </a:solidFill>
          <a:ln w="19050">
            <a:solidFill>
              <a:srgbClr val="8A6E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74920" y="1618488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E7CCD6"/>
          </a:solidFill>
          <a:ln w="12700">
            <a:solidFill>
              <a:srgbClr val="C9A6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74920" y="161848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教室養成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新手·課程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58707" y="2532888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E7CCD6"/>
          </a:solidFill>
          <a:ln w="12700">
            <a:solidFill>
              <a:srgbClr val="C9A6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58707" y="253288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門市 · 配桌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場地·媒合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58707" y="4361688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E7CCD6"/>
          </a:solidFill>
          <a:ln w="12700">
            <a:solidFill>
              <a:srgbClr val="C9A6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58707" y="436168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競技 · 段位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賽事·排名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4920" y="5276088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ECC4C0"/>
          </a:solidFill>
          <a:ln w="12700">
            <a:solidFill>
              <a:srgbClr val="C9A6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527608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3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 · 明星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A3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直播·IP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91133" y="4361688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ECC4C0"/>
          </a:solidFill>
          <a:ln w="12700">
            <a:solidFill>
              <a:srgbClr val="C9A6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91133" y="436168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3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 · 聯名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A3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麻將尺·IP款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91133" y="2532888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E7CCD6"/>
          </a:solidFill>
          <a:ln w="12700">
            <a:solidFill>
              <a:srgbClr val="C9A6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91133" y="253288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 · 獲客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知名度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4920" y="3447288"/>
            <a:ext cx="2011680" cy="786384"/>
          </a:xfrm>
          <a:prstGeom prst="roundRect">
            <a:avLst>
              <a:gd name="adj" fmla="val 11628"/>
            </a:avLst>
          </a:prstGeom>
          <a:solidFill>
            <a:srgbClr val="DAC8E4"/>
          </a:solidFill>
          <a:ln w="12700">
            <a:solidFill>
              <a:srgbClr val="BCA6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3447288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63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大數據 + 會員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63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飛輪引擎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六臂順時針互相餵養 —— 每轉一圈,飛輪更重。中央的大數據與會員,是別人抄不走的引擎。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護城河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自動牌譜大數據:別人抄不走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每桌攝影機 + 全自動桌資料 → 逐筆牌譜 → 段位、和牌率、放槍率 → 回頭餵養配桌與排名。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日本連鎖的成績是「人工記錄、粗顆粒」;我們是「自動逐筆、細到打牌指紋」——這是世代差距。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擷取(桌資料+AI)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54680" y="33832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566160" y="33832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逐筆事件庫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80760" y="33832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492240" y="33832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 / 段位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06840" y="33832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9418320" y="338328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0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 · 排名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66344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14400" y="46634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7E9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關鍵: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你累積的「每位客人逐筆打牌資料」沒人有 —— 沒有這份資料,就做不出真正的實力配桌、AI 教學與逐巡回放。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核心服務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智慧配桌:約束求解 + 評分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7E9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硬約束(一定要過)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黑名單:任兩人無迴避邊(雙向、隱密)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四人時間窗交集 ≥ 預估時長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有空桌、點數足夠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349240" cy="2468880"/>
          </a:xfrm>
          <a:prstGeom prst="roundRect">
            <a:avLst>
              <a:gd name="adj" fmla="val 3704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軟評分(取最佳解)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46520" y="25603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段位越接近越高分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固定咖湊在一起 / 等越久優先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時間窗快關、回流會員加權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61772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617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87E9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替補機制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有人到點離開,即時從候補補位,牌局繼續 —— 把「桌的壽命」與「個人要打多久」解耦,徹底解決時間限制問題。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護城河 · 核心模型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成桌責任光譜:從「自己湊」到「MIGI 幫你湊」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C3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客人自己負責成桌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410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負責成桌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237744" cy="109728"/>
          </a:xfrm>
          <a:prstGeom prst="rect">
            <a:avLst/>
          </a:prstGeom>
          <a:solidFill>
            <a:srgbClr val="DBC3B5"/>
          </a:solidFill>
          <a:ln/>
        </p:spPr>
      </p:sp>
      <p:sp>
        <p:nvSpPr>
          <p:cNvPr id="8" name="Shape 6"/>
          <p:cNvSpPr/>
          <p:nvPr/>
        </p:nvSpPr>
        <p:spPr>
          <a:xfrm>
            <a:off x="1003097" y="2103120"/>
            <a:ext cx="237744" cy="109728"/>
          </a:xfrm>
          <a:prstGeom prst="rect">
            <a:avLst/>
          </a:prstGeom>
          <a:solidFill>
            <a:srgbClr val="DAC1B4"/>
          </a:solidFill>
          <a:ln/>
        </p:spPr>
      </p:sp>
      <p:sp>
        <p:nvSpPr>
          <p:cNvPr id="9" name="Shape 7"/>
          <p:cNvSpPr/>
          <p:nvPr/>
        </p:nvSpPr>
        <p:spPr>
          <a:xfrm>
            <a:off x="1228954" y="2103120"/>
            <a:ext cx="237744" cy="109728"/>
          </a:xfrm>
          <a:prstGeom prst="rect">
            <a:avLst/>
          </a:prstGeom>
          <a:solidFill>
            <a:srgbClr val="DABFB2"/>
          </a:solidFill>
          <a:ln/>
        </p:spPr>
      </p:sp>
      <p:sp>
        <p:nvSpPr>
          <p:cNvPr id="10" name="Shape 8"/>
          <p:cNvSpPr/>
          <p:nvPr/>
        </p:nvSpPr>
        <p:spPr>
          <a:xfrm>
            <a:off x="1454810" y="2103120"/>
            <a:ext cx="237744" cy="109728"/>
          </a:xfrm>
          <a:prstGeom prst="rect">
            <a:avLst/>
          </a:prstGeom>
          <a:solidFill>
            <a:srgbClr val="D9BDB1"/>
          </a:solidFill>
          <a:ln/>
        </p:spPr>
      </p:sp>
      <p:sp>
        <p:nvSpPr>
          <p:cNvPr id="11" name="Shape 9"/>
          <p:cNvSpPr/>
          <p:nvPr/>
        </p:nvSpPr>
        <p:spPr>
          <a:xfrm>
            <a:off x="1680667" y="2103120"/>
            <a:ext cx="237744" cy="109728"/>
          </a:xfrm>
          <a:prstGeom prst="rect">
            <a:avLst/>
          </a:prstGeom>
          <a:solidFill>
            <a:srgbClr val="D9BBB0"/>
          </a:solidFill>
          <a:ln/>
        </p:spPr>
      </p:sp>
      <p:sp>
        <p:nvSpPr>
          <p:cNvPr id="12" name="Shape 10"/>
          <p:cNvSpPr/>
          <p:nvPr/>
        </p:nvSpPr>
        <p:spPr>
          <a:xfrm>
            <a:off x="1906524" y="2103120"/>
            <a:ext cx="237744" cy="109728"/>
          </a:xfrm>
          <a:prstGeom prst="rect">
            <a:avLst/>
          </a:prstGeom>
          <a:solidFill>
            <a:srgbClr val="D8B8AF"/>
          </a:solidFill>
          <a:ln/>
        </p:spPr>
      </p:sp>
      <p:sp>
        <p:nvSpPr>
          <p:cNvPr id="13" name="Shape 11"/>
          <p:cNvSpPr/>
          <p:nvPr/>
        </p:nvSpPr>
        <p:spPr>
          <a:xfrm>
            <a:off x="2132381" y="2103120"/>
            <a:ext cx="237744" cy="109728"/>
          </a:xfrm>
          <a:prstGeom prst="rect">
            <a:avLst/>
          </a:prstGeom>
          <a:solidFill>
            <a:srgbClr val="D8B6AD"/>
          </a:solidFill>
          <a:ln/>
        </p:spPr>
      </p:sp>
      <p:sp>
        <p:nvSpPr>
          <p:cNvPr id="14" name="Shape 12"/>
          <p:cNvSpPr/>
          <p:nvPr/>
        </p:nvSpPr>
        <p:spPr>
          <a:xfrm>
            <a:off x="2358238" y="2103120"/>
            <a:ext cx="237744" cy="109728"/>
          </a:xfrm>
          <a:prstGeom prst="rect">
            <a:avLst/>
          </a:prstGeom>
          <a:solidFill>
            <a:srgbClr val="D7B4AC"/>
          </a:solidFill>
          <a:ln/>
        </p:spPr>
      </p:sp>
      <p:sp>
        <p:nvSpPr>
          <p:cNvPr id="15" name="Shape 13"/>
          <p:cNvSpPr/>
          <p:nvPr/>
        </p:nvSpPr>
        <p:spPr>
          <a:xfrm>
            <a:off x="2584094" y="2103120"/>
            <a:ext cx="237744" cy="109728"/>
          </a:xfrm>
          <a:prstGeom prst="rect">
            <a:avLst/>
          </a:prstGeom>
          <a:solidFill>
            <a:srgbClr val="D7B2AB"/>
          </a:solidFill>
          <a:ln/>
        </p:spPr>
      </p:sp>
      <p:sp>
        <p:nvSpPr>
          <p:cNvPr id="16" name="Shape 14"/>
          <p:cNvSpPr/>
          <p:nvPr/>
        </p:nvSpPr>
        <p:spPr>
          <a:xfrm>
            <a:off x="2809951" y="2103120"/>
            <a:ext cx="237744" cy="109728"/>
          </a:xfrm>
          <a:prstGeom prst="rect">
            <a:avLst/>
          </a:prstGeom>
          <a:solidFill>
            <a:srgbClr val="D6B0AA"/>
          </a:solidFill>
          <a:ln/>
        </p:spPr>
      </p:sp>
      <p:sp>
        <p:nvSpPr>
          <p:cNvPr id="17" name="Shape 15"/>
          <p:cNvSpPr/>
          <p:nvPr/>
        </p:nvSpPr>
        <p:spPr>
          <a:xfrm>
            <a:off x="3035808" y="2103120"/>
            <a:ext cx="237744" cy="109728"/>
          </a:xfrm>
          <a:prstGeom prst="rect">
            <a:avLst/>
          </a:prstGeom>
          <a:solidFill>
            <a:srgbClr val="D6AEA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61665" y="2103120"/>
            <a:ext cx="237744" cy="109728"/>
          </a:xfrm>
          <a:prstGeom prst="rect">
            <a:avLst/>
          </a:prstGeom>
          <a:solidFill>
            <a:srgbClr val="D5ACA7"/>
          </a:solidFill>
          <a:ln/>
        </p:spPr>
      </p:sp>
      <p:sp>
        <p:nvSpPr>
          <p:cNvPr id="19" name="Shape 17"/>
          <p:cNvSpPr/>
          <p:nvPr/>
        </p:nvSpPr>
        <p:spPr>
          <a:xfrm>
            <a:off x="3487522" y="2103120"/>
            <a:ext cx="237744" cy="109728"/>
          </a:xfrm>
          <a:prstGeom prst="rect">
            <a:avLst/>
          </a:prstGeom>
          <a:solidFill>
            <a:srgbClr val="D5AAA6"/>
          </a:solidFill>
          <a:ln/>
        </p:spPr>
      </p:sp>
      <p:sp>
        <p:nvSpPr>
          <p:cNvPr id="20" name="Shape 18"/>
          <p:cNvSpPr/>
          <p:nvPr/>
        </p:nvSpPr>
        <p:spPr>
          <a:xfrm>
            <a:off x="3713378" y="2103120"/>
            <a:ext cx="237744" cy="109728"/>
          </a:xfrm>
          <a:prstGeom prst="rect">
            <a:avLst/>
          </a:prstGeom>
          <a:solidFill>
            <a:srgbClr val="D4A8A5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9235" y="2103120"/>
            <a:ext cx="237744" cy="109728"/>
          </a:xfrm>
          <a:prstGeom prst="rect">
            <a:avLst/>
          </a:prstGeom>
          <a:solidFill>
            <a:srgbClr val="D4A6A3"/>
          </a:solidFill>
          <a:ln/>
        </p:spPr>
      </p:sp>
      <p:sp>
        <p:nvSpPr>
          <p:cNvPr id="22" name="Shape 20"/>
          <p:cNvSpPr/>
          <p:nvPr/>
        </p:nvSpPr>
        <p:spPr>
          <a:xfrm>
            <a:off x="4165092" y="2103120"/>
            <a:ext cx="237744" cy="109728"/>
          </a:xfrm>
          <a:prstGeom prst="rect">
            <a:avLst/>
          </a:prstGeom>
          <a:solidFill>
            <a:srgbClr val="D3A3A2"/>
          </a:solidFill>
          <a:ln/>
        </p:spPr>
      </p:sp>
      <p:sp>
        <p:nvSpPr>
          <p:cNvPr id="23" name="Shape 21"/>
          <p:cNvSpPr/>
          <p:nvPr/>
        </p:nvSpPr>
        <p:spPr>
          <a:xfrm>
            <a:off x="4390949" y="2103120"/>
            <a:ext cx="237744" cy="109728"/>
          </a:xfrm>
          <a:prstGeom prst="rect">
            <a:avLst/>
          </a:prstGeom>
          <a:solidFill>
            <a:srgbClr val="D2A1A1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6806" y="2103120"/>
            <a:ext cx="237744" cy="109728"/>
          </a:xfrm>
          <a:prstGeom prst="rect">
            <a:avLst/>
          </a:prstGeom>
          <a:solidFill>
            <a:srgbClr val="D29FA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2662" y="2103120"/>
            <a:ext cx="237744" cy="109728"/>
          </a:xfrm>
          <a:prstGeom prst="rect">
            <a:avLst/>
          </a:prstGeom>
          <a:solidFill>
            <a:srgbClr val="D19D9E"/>
          </a:solidFill>
          <a:ln/>
        </p:spPr>
      </p:sp>
      <p:sp>
        <p:nvSpPr>
          <p:cNvPr id="26" name="Shape 24"/>
          <p:cNvSpPr/>
          <p:nvPr/>
        </p:nvSpPr>
        <p:spPr>
          <a:xfrm>
            <a:off x="5068519" y="2103120"/>
            <a:ext cx="237744" cy="109728"/>
          </a:xfrm>
          <a:prstGeom prst="rect">
            <a:avLst/>
          </a:prstGeom>
          <a:solidFill>
            <a:srgbClr val="D19B9D"/>
          </a:solidFill>
          <a:ln/>
        </p:spPr>
      </p:sp>
      <p:sp>
        <p:nvSpPr>
          <p:cNvPr id="27" name="Shape 25"/>
          <p:cNvSpPr/>
          <p:nvPr/>
        </p:nvSpPr>
        <p:spPr>
          <a:xfrm>
            <a:off x="5294376" y="2103120"/>
            <a:ext cx="237744" cy="109728"/>
          </a:xfrm>
          <a:prstGeom prst="rect">
            <a:avLst/>
          </a:prstGeom>
          <a:solidFill>
            <a:srgbClr val="D0999C"/>
          </a:solidFill>
          <a:ln/>
        </p:spPr>
      </p:sp>
      <p:sp>
        <p:nvSpPr>
          <p:cNvPr id="28" name="Shape 26"/>
          <p:cNvSpPr/>
          <p:nvPr/>
        </p:nvSpPr>
        <p:spPr>
          <a:xfrm>
            <a:off x="5520233" y="2103120"/>
            <a:ext cx="237744" cy="109728"/>
          </a:xfrm>
          <a:prstGeom prst="rect">
            <a:avLst/>
          </a:prstGeom>
          <a:solidFill>
            <a:srgbClr val="D0979B"/>
          </a:solidFill>
          <a:ln/>
        </p:spPr>
      </p:sp>
      <p:sp>
        <p:nvSpPr>
          <p:cNvPr id="29" name="Shape 27"/>
          <p:cNvSpPr/>
          <p:nvPr/>
        </p:nvSpPr>
        <p:spPr>
          <a:xfrm>
            <a:off x="5746090" y="2103120"/>
            <a:ext cx="237744" cy="109728"/>
          </a:xfrm>
          <a:prstGeom prst="rect">
            <a:avLst/>
          </a:prstGeom>
          <a:solidFill>
            <a:srgbClr val="CF9599"/>
          </a:solidFill>
          <a:ln/>
        </p:spPr>
      </p:sp>
      <p:sp>
        <p:nvSpPr>
          <p:cNvPr id="30" name="Shape 28"/>
          <p:cNvSpPr/>
          <p:nvPr/>
        </p:nvSpPr>
        <p:spPr>
          <a:xfrm>
            <a:off x="5971946" y="2103120"/>
            <a:ext cx="237744" cy="109728"/>
          </a:xfrm>
          <a:prstGeom prst="rect">
            <a:avLst/>
          </a:prstGeom>
          <a:solidFill>
            <a:srgbClr val="CF9398"/>
          </a:solidFill>
          <a:ln/>
        </p:spPr>
      </p:sp>
      <p:sp>
        <p:nvSpPr>
          <p:cNvPr id="31" name="Shape 29"/>
          <p:cNvSpPr/>
          <p:nvPr/>
        </p:nvSpPr>
        <p:spPr>
          <a:xfrm>
            <a:off x="6197803" y="2103120"/>
            <a:ext cx="237744" cy="109728"/>
          </a:xfrm>
          <a:prstGeom prst="rect">
            <a:avLst/>
          </a:prstGeom>
          <a:solidFill>
            <a:srgbClr val="CE9097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3660" y="2103120"/>
            <a:ext cx="237744" cy="109728"/>
          </a:xfrm>
          <a:prstGeom prst="rect">
            <a:avLst/>
          </a:prstGeom>
          <a:solidFill>
            <a:srgbClr val="CE8E96"/>
          </a:solidFill>
          <a:ln/>
        </p:spPr>
      </p:sp>
      <p:sp>
        <p:nvSpPr>
          <p:cNvPr id="33" name="Shape 31"/>
          <p:cNvSpPr/>
          <p:nvPr/>
        </p:nvSpPr>
        <p:spPr>
          <a:xfrm>
            <a:off x="6649517" y="2103120"/>
            <a:ext cx="237744" cy="109728"/>
          </a:xfrm>
          <a:prstGeom prst="rect">
            <a:avLst/>
          </a:prstGeom>
          <a:solidFill>
            <a:srgbClr val="CD8C94"/>
          </a:solidFill>
          <a:ln/>
        </p:spPr>
      </p:sp>
      <p:sp>
        <p:nvSpPr>
          <p:cNvPr id="34" name="Shape 32"/>
          <p:cNvSpPr/>
          <p:nvPr/>
        </p:nvSpPr>
        <p:spPr>
          <a:xfrm>
            <a:off x="6875374" y="2103120"/>
            <a:ext cx="237744" cy="109728"/>
          </a:xfrm>
          <a:prstGeom prst="rect">
            <a:avLst/>
          </a:prstGeom>
          <a:solidFill>
            <a:srgbClr val="CD8A93"/>
          </a:solidFill>
          <a:ln/>
        </p:spPr>
      </p:sp>
      <p:sp>
        <p:nvSpPr>
          <p:cNvPr id="35" name="Shape 33"/>
          <p:cNvSpPr/>
          <p:nvPr/>
        </p:nvSpPr>
        <p:spPr>
          <a:xfrm>
            <a:off x="7101230" y="2103120"/>
            <a:ext cx="237744" cy="109728"/>
          </a:xfrm>
          <a:prstGeom prst="rect">
            <a:avLst/>
          </a:prstGeom>
          <a:solidFill>
            <a:srgbClr val="CC8892"/>
          </a:solidFill>
          <a:ln/>
        </p:spPr>
      </p:sp>
      <p:sp>
        <p:nvSpPr>
          <p:cNvPr id="36" name="Shape 34"/>
          <p:cNvSpPr/>
          <p:nvPr/>
        </p:nvSpPr>
        <p:spPr>
          <a:xfrm>
            <a:off x="7327087" y="2103120"/>
            <a:ext cx="237744" cy="109728"/>
          </a:xfrm>
          <a:prstGeom prst="rect">
            <a:avLst/>
          </a:prstGeom>
          <a:solidFill>
            <a:srgbClr val="CC8691"/>
          </a:solidFill>
          <a:ln/>
        </p:spPr>
      </p:sp>
      <p:sp>
        <p:nvSpPr>
          <p:cNvPr id="37" name="Shape 35"/>
          <p:cNvSpPr/>
          <p:nvPr/>
        </p:nvSpPr>
        <p:spPr>
          <a:xfrm>
            <a:off x="7552944" y="2103120"/>
            <a:ext cx="237744" cy="109728"/>
          </a:xfrm>
          <a:prstGeom prst="rect">
            <a:avLst/>
          </a:prstGeom>
          <a:solidFill>
            <a:srgbClr val="CB848F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8801" y="2103120"/>
            <a:ext cx="237744" cy="109728"/>
          </a:xfrm>
          <a:prstGeom prst="rect">
            <a:avLst/>
          </a:prstGeom>
          <a:solidFill>
            <a:srgbClr val="CB828E"/>
          </a:solidFill>
          <a:ln/>
        </p:spPr>
      </p:sp>
      <p:sp>
        <p:nvSpPr>
          <p:cNvPr id="39" name="Shape 37"/>
          <p:cNvSpPr/>
          <p:nvPr/>
        </p:nvSpPr>
        <p:spPr>
          <a:xfrm>
            <a:off x="8004658" y="2103120"/>
            <a:ext cx="237744" cy="109728"/>
          </a:xfrm>
          <a:prstGeom prst="rect">
            <a:avLst/>
          </a:prstGeom>
          <a:solidFill>
            <a:srgbClr val="CA808D"/>
          </a:solidFill>
          <a:ln/>
        </p:spPr>
      </p:sp>
      <p:sp>
        <p:nvSpPr>
          <p:cNvPr id="40" name="Shape 38"/>
          <p:cNvSpPr/>
          <p:nvPr/>
        </p:nvSpPr>
        <p:spPr>
          <a:xfrm>
            <a:off x="8230514" y="2103120"/>
            <a:ext cx="237744" cy="109728"/>
          </a:xfrm>
          <a:prstGeom prst="rect">
            <a:avLst/>
          </a:prstGeom>
          <a:solidFill>
            <a:srgbClr val="C97D8C"/>
          </a:solidFill>
          <a:ln/>
        </p:spPr>
      </p:sp>
      <p:sp>
        <p:nvSpPr>
          <p:cNvPr id="41" name="Shape 39"/>
          <p:cNvSpPr/>
          <p:nvPr/>
        </p:nvSpPr>
        <p:spPr>
          <a:xfrm>
            <a:off x="8456371" y="2103120"/>
            <a:ext cx="237744" cy="109728"/>
          </a:xfrm>
          <a:prstGeom prst="rect">
            <a:avLst/>
          </a:prstGeom>
          <a:solidFill>
            <a:srgbClr val="C97B8A"/>
          </a:solidFill>
          <a:ln/>
        </p:spPr>
      </p:sp>
      <p:sp>
        <p:nvSpPr>
          <p:cNvPr id="42" name="Shape 40"/>
          <p:cNvSpPr/>
          <p:nvPr/>
        </p:nvSpPr>
        <p:spPr>
          <a:xfrm>
            <a:off x="8682228" y="2103120"/>
            <a:ext cx="237744" cy="109728"/>
          </a:xfrm>
          <a:prstGeom prst="rect">
            <a:avLst/>
          </a:prstGeom>
          <a:solidFill>
            <a:srgbClr val="C87989"/>
          </a:solidFill>
          <a:ln/>
        </p:spPr>
      </p:sp>
      <p:sp>
        <p:nvSpPr>
          <p:cNvPr id="43" name="Shape 41"/>
          <p:cNvSpPr/>
          <p:nvPr/>
        </p:nvSpPr>
        <p:spPr>
          <a:xfrm>
            <a:off x="8908085" y="2103120"/>
            <a:ext cx="237744" cy="109728"/>
          </a:xfrm>
          <a:prstGeom prst="rect">
            <a:avLst/>
          </a:prstGeom>
          <a:solidFill>
            <a:srgbClr val="C87788"/>
          </a:solidFill>
          <a:ln/>
        </p:spPr>
      </p:sp>
      <p:sp>
        <p:nvSpPr>
          <p:cNvPr id="44" name="Shape 42"/>
          <p:cNvSpPr/>
          <p:nvPr/>
        </p:nvSpPr>
        <p:spPr>
          <a:xfrm>
            <a:off x="9133942" y="2103120"/>
            <a:ext cx="237744" cy="109728"/>
          </a:xfrm>
          <a:prstGeom prst="rect">
            <a:avLst/>
          </a:prstGeom>
          <a:solidFill>
            <a:srgbClr val="C77587"/>
          </a:solidFill>
          <a:ln/>
        </p:spPr>
      </p:sp>
      <p:sp>
        <p:nvSpPr>
          <p:cNvPr id="45" name="Shape 43"/>
          <p:cNvSpPr/>
          <p:nvPr/>
        </p:nvSpPr>
        <p:spPr>
          <a:xfrm>
            <a:off x="9359798" y="2103120"/>
            <a:ext cx="237744" cy="109728"/>
          </a:xfrm>
          <a:prstGeom prst="rect">
            <a:avLst/>
          </a:prstGeom>
          <a:solidFill>
            <a:srgbClr val="C77385"/>
          </a:solidFill>
          <a:ln/>
        </p:spPr>
      </p:sp>
      <p:sp>
        <p:nvSpPr>
          <p:cNvPr id="46" name="Shape 44"/>
          <p:cNvSpPr/>
          <p:nvPr/>
        </p:nvSpPr>
        <p:spPr>
          <a:xfrm>
            <a:off x="9585655" y="2103120"/>
            <a:ext cx="237744" cy="109728"/>
          </a:xfrm>
          <a:prstGeom prst="rect">
            <a:avLst/>
          </a:prstGeom>
          <a:solidFill>
            <a:srgbClr val="C67184"/>
          </a:solidFill>
          <a:ln/>
        </p:spPr>
      </p:sp>
      <p:sp>
        <p:nvSpPr>
          <p:cNvPr id="47" name="Shape 45"/>
          <p:cNvSpPr/>
          <p:nvPr/>
        </p:nvSpPr>
        <p:spPr>
          <a:xfrm>
            <a:off x="9811512" y="2103120"/>
            <a:ext cx="237744" cy="109728"/>
          </a:xfrm>
          <a:prstGeom prst="rect">
            <a:avLst/>
          </a:prstGeom>
          <a:solidFill>
            <a:srgbClr val="C66F83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37369" y="2103120"/>
            <a:ext cx="237744" cy="109728"/>
          </a:xfrm>
          <a:prstGeom prst="rect">
            <a:avLst/>
          </a:prstGeom>
          <a:solidFill>
            <a:srgbClr val="C56D82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63226" y="2103120"/>
            <a:ext cx="237744" cy="109728"/>
          </a:xfrm>
          <a:prstGeom prst="rect">
            <a:avLst/>
          </a:prstGeom>
          <a:solidFill>
            <a:srgbClr val="C56B80"/>
          </a:solidFill>
          <a:ln/>
        </p:spPr>
      </p:sp>
      <p:sp>
        <p:nvSpPr>
          <p:cNvPr id="50" name="Shape 48"/>
          <p:cNvSpPr/>
          <p:nvPr/>
        </p:nvSpPr>
        <p:spPr>
          <a:xfrm>
            <a:off x="10489082" y="2103120"/>
            <a:ext cx="237744" cy="109728"/>
          </a:xfrm>
          <a:prstGeom prst="rect">
            <a:avLst/>
          </a:prstGeom>
          <a:solidFill>
            <a:srgbClr val="C4687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714939" y="2103120"/>
            <a:ext cx="237744" cy="109728"/>
          </a:xfrm>
          <a:prstGeom prst="rect">
            <a:avLst/>
          </a:prstGeom>
          <a:solidFill>
            <a:srgbClr val="C4667E"/>
          </a:solidFill>
          <a:ln/>
        </p:spPr>
      </p:sp>
      <p:sp>
        <p:nvSpPr>
          <p:cNvPr id="52" name="Shape 50"/>
          <p:cNvSpPr/>
          <p:nvPr/>
        </p:nvSpPr>
        <p:spPr>
          <a:xfrm>
            <a:off x="10940796" y="2103120"/>
            <a:ext cx="237744" cy="109728"/>
          </a:xfrm>
          <a:prstGeom prst="rect">
            <a:avLst/>
          </a:prstGeom>
          <a:solidFill>
            <a:srgbClr val="C3647D"/>
          </a:solidFill>
          <a:ln/>
        </p:spPr>
      </p:sp>
      <p:sp>
        <p:nvSpPr>
          <p:cNvPr id="53" name="Shape 51"/>
          <p:cNvSpPr/>
          <p:nvPr/>
        </p:nvSpPr>
        <p:spPr>
          <a:xfrm>
            <a:off x="11166653" y="2103120"/>
            <a:ext cx="237744" cy="109728"/>
          </a:xfrm>
          <a:prstGeom prst="rect">
            <a:avLst/>
          </a:prstGeom>
          <a:solidFill>
            <a:srgbClr val="C3627B"/>
          </a:solidFill>
          <a:ln/>
        </p:spPr>
      </p:sp>
      <p:sp>
        <p:nvSpPr>
          <p:cNvPr id="54" name="Shape 52"/>
          <p:cNvSpPr/>
          <p:nvPr/>
        </p:nvSpPr>
        <p:spPr>
          <a:xfrm>
            <a:off x="11392510" y="2103120"/>
            <a:ext cx="237744" cy="109728"/>
          </a:xfrm>
          <a:prstGeom prst="rect">
            <a:avLst/>
          </a:prstGeom>
          <a:solidFill>
            <a:srgbClr val="C2607A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80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77240" y="24688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8E4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77240" y="24688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DBC3B5"/>
          </a:solidFill>
          <a:ln/>
        </p:spPr>
      </p:sp>
      <p:sp>
        <p:nvSpPr>
          <p:cNvPr id="58" name="Shape 56"/>
          <p:cNvSpPr/>
          <p:nvPr/>
        </p:nvSpPr>
        <p:spPr>
          <a:xfrm>
            <a:off x="777240" y="2743200"/>
            <a:ext cx="2606040" cy="182880"/>
          </a:xfrm>
          <a:prstGeom prst="rect">
            <a:avLst/>
          </a:prstGeom>
          <a:solidFill>
            <a:srgbClr val="DBC3B5"/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" y="25237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自帶整團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14400" y="299923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跟朋友約好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14400" y="33101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成桌責任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64592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 100%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14400" y="36941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計費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645920" y="3694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包桌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14400" y="40782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645920" y="40782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鞏固已有關係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14400" y="4462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645920" y="4462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= 場地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611880" y="24688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8E4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611880" y="24688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3C9B8"/>
          </a:solidFill>
          <a:ln/>
        </p:spPr>
      </p:sp>
      <p:sp>
        <p:nvSpPr>
          <p:cNvPr id="71" name="Shape 69"/>
          <p:cNvSpPr/>
          <p:nvPr/>
        </p:nvSpPr>
        <p:spPr>
          <a:xfrm>
            <a:off x="3611880" y="2743200"/>
            <a:ext cx="2606040" cy="182880"/>
          </a:xfrm>
          <a:prstGeom prst="rect">
            <a:avLst/>
          </a:prstGeom>
          <a:solidFill>
            <a:srgbClr val="E3C9B8"/>
          </a:solidFill>
          <a:ln/>
        </p:spPr>
      </p:sp>
      <p:sp>
        <p:nvSpPr>
          <p:cNvPr id="72" name="Text 70"/>
          <p:cNvSpPr/>
          <p:nvPr/>
        </p:nvSpPr>
        <p:spPr>
          <a:xfrm>
            <a:off x="3749040" y="25237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外部揪團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3749040" y="299923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脆 / IG 找人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749040" y="33101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成桌責任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48056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客人主導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49040" y="36941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計費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480560" y="3694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包桌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749040" y="40782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4480560" y="40782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已有關係+收編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749040" y="4462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480560" y="4462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= 收編者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46520" y="24688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8E4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446520" y="24688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E8A6BC"/>
          </a:solidFill>
          <a:ln/>
        </p:spPr>
      </p:sp>
      <p:sp>
        <p:nvSpPr>
          <p:cNvPr id="84" name="Shape 82"/>
          <p:cNvSpPr/>
          <p:nvPr/>
        </p:nvSpPr>
        <p:spPr>
          <a:xfrm>
            <a:off x="6446520" y="2743200"/>
            <a:ext cx="2606040" cy="182880"/>
          </a:xfrm>
          <a:prstGeom prst="rect">
            <a:avLst/>
          </a:prstGeom>
          <a:solidFill>
            <a:srgbClr val="E8A6BC"/>
          </a:solidFill>
          <a:ln/>
        </p:spPr>
      </p:sp>
      <p:sp>
        <p:nvSpPr>
          <p:cNvPr id="85" name="Text 83"/>
          <p:cNvSpPr/>
          <p:nvPr/>
        </p:nvSpPr>
        <p:spPr>
          <a:xfrm>
            <a:off x="6583680" y="25237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系統配桌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6583680" y="299923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演算法媒合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583680" y="33101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成桌責任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31520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主導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583680" y="36941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計費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315200" y="3694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583680" y="40782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7315200" y="40782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創造新關係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6583680" y="4462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315200" y="4462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= 媒人(自動)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281160" y="24688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8E4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9281160" y="246888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C2607A"/>
          </a:solidFill>
          <a:ln/>
        </p:spPr>
      </p:sp>
      <p:sp>
        <p:nvSpPr>
          <p:cNvPr id="97" name="Shape 95"/>
          <p:cNvSpPr/>
          <p:nvPr/>
        </p:nvSpPr>
        <p:spPr>
          <a:xfrm>
            <a:off x="9281160" y="2743200"/>
            <a:ext cx="2606040" cy="182880"/>
          </a:xfrm>
          <a:prstGeom prst="rect">
            <a:avLst/>
          </a:prstGeom>
          <a:solidFill>
            <a:srgbClr val="C2607A"/>
          </a:solidFill>
          <a:ln/>
        </p:spPr>
      </p:sp>
      <p:sp>
        <p:nvSpPr>
          <p:cNvPr id="98" name="Text 96"/>
          <p:cNvSpPr/>
          <p:nvPr/>
        </p:nvSpPr>
        <p:spPr>
          <a:xfrm>
            <a:off x="9418320" y="252374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店員配桌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9418320" y="299923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店員撮合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9418320" y="33101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成桌責任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1014984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100%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9418320" y="36941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計費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0149840" y="3694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9418320" y="407822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關係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0149840" y="40782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創造新關係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9418320" y="4462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10149840" y="4462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= 媒人(人工)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77240" y="512064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7EFE8"/>
          </a:solidFill>
          <a:ln/>
        </p:spPr>
      </p:sp>
      <p:sp>
        <p:nvSpPr>
          <p:cNvPr id="109" name="Text 107"/>
          <p:cNvSpPr/>
          <p:nvPr/>
        </p:nvSpPr>
        <p:spPr>
          <a:xfrm>
            <a:off x="960120" y="52120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7E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左端 = 基本盤　</a:t>
            </a:r>
            <a:pPr indent="0" marL="0">
              <a:buNone/>
            </a:pPr>
            <a:r>
              <a:rPr lang="en-US" sz="10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自帶/外部揪團,客人自己湊,MIGI 鞏固已有關係、賺包桌費。穩定好預測,是招團冷啟動的對象。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6355080" y="512064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BDEE4"/>
          </a:solidFill>
          <a:ln/>
        </p:spPr>
      </p:sp>
      <p:sp>
        <p:nvSpPr>
          <p:cNvPr id="111" name="Text 109"/>
          <p:cNvSpPr/>
          <p:nvPr/>
        </p:nvSpPr>
        <p:spPr>
          <a:xfrm>
            <a:off x="6537960" y="52120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右端 = 護城河　</a:t>
            </a:r>
            <a:pPr indent="0" marL="0">
              <a:buNone/>
            </a:pPr>
            <a:r>
              <a:rPr lang="en-US" sz="1000" dirty="0">
                <a:solidFill>
                  <a:srgbClr val="7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系統/店員配桌,MIGI 無中生有創造陌生人的牌咖關係,長在平台上、離開就散。越往右越不可取代。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關鍵戰略:把「配桌」從湊人升級成「媒合」(段位/年齡/風格合拍)→ 提高陌生人打完互加牌咖的機率 → 這是「人鎖人」護城河的引擎。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旗艦店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電競式麻將競技場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中央職業舞台(玻璃隔音)+ 大型電視牆(即時牌譜疊圖)+ 觀眾席,外圍是民眾打牌區、商品店與餐飲。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把麻將變成「看得見的電競」。一兩家旗艦負責品牌、內容與賽事;一般分店維持高坪效。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26680" y="21945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大型電視牆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26680" y="278892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C87E92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26680" y="27889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0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職業比賽舞台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20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玻璃隔音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92440" y="397764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觀眾席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73952" y="2788920"/>
            <a:ext cx="1097280" cy="1600200"/>
          </a:xfrm>
          <a:prstGeom prst="roundRect">
            <a:avLst>
              <a:gd name="adj" fmla="val 6667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2788920"/>
            <a:ext cx="1097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打牌區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259568" y="2788920"/>
            <a:ext cx="1097280" cy="1600200"/>
          </a:xfrm>
          <a:prstGeom prst="roundRect">
            <a:avLst>
              <a:gd name="adj" fmla="val 6667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59568" y="2788920"/>
            <a:ext cx="1097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民眾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打牌區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73952" y="46177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3952" y="46177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報到 · 配桌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183880" y="461772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C87E92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83880" y="4617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0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商品店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756648" y="46177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56648" y="46177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06440"/>
            <a:ext cx="12161520" cy="1051560"/>
          </a:xfrm>
          <a:prstGeom prst="rect">
            <a:avLst/>
          </a:prstGeom>
          <a:solidFill>
            <a:srgbClr val="1A1518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C6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旗艦店 · ARENA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1996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電競式麻將競技場 — 賽事直播實景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 · IP · 商品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明星養成到商品變現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965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選拔發掘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154680" y="196596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566160" y="19659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6160" y="1965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養成包裝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0760" y="196596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492240" y="19659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31252C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1965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內容曝光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006840" y="196596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9418320" y="19659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C87E92"/>
          </a:solidFill>
          <a:ln w="12700">
            <a:solidFill>
              <a:srgbClr val="3F31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0" y="19659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0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商業變現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320040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從賽事選出明星(台灣版「岡田紗佳」)→ 直播與短影音養成 IP → 落地成聯名商品。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商品線:日常麻將尺、精品收藏、自有/外部 IP 聯名;</a:t>
            </a:r>
            <a:endParaRPr lang="en-US" sz="15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用段位/成就「解鎖限定品」,把大數據變成消費動力 —— 還能順帶曝光品牌、去汙名化。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06440"/>
            <a:ext cx="12161520" cy="1051560"/>
          </a:xfrm>
          <a:prstGeom prst="rect">
            <a:avLst/>
          </a:prstGeom>
          <a:solidFill>
            <a:srgbClr val="1A1518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C6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 · F&amp;B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1996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Lucky Bar — 麻將主題餐飲 · 賽事轉播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第一階段:從一家店開始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原則:先證明「一個盒子會賺錢」,而不是先把酷東西做出來。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5328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要建(最小系統)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LINE/LIFF 會員 + 點數錢包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 + 桌台計時計費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簡易後台、資料表先到位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26280" y="23317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25328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3A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先用人工頂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754880" y="31089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配桌:店員手動媒合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成績:手動輸入局結果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CCTV 存證(不做 AI)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12480" y="2331720"/>
            <a:ext cx="3611880" cy="3017520"/>
          </a:xfrm>
          <a:prstGeom prst="roundRect">
            <a:avLst>
              <a:gd name="adj" fmla="val 3030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41080" y="25328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7E9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先不做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41080" y="31089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攝影機逐筆辨識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電視牆 / 旗艦店 / 車隊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職業選手 / 第二家店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用你的 Supabase + LIFF 棧自建,省一個開發外包。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806440"/>
            <a:ext cx="12161520" cy="1051560"/>
          </a:xfrm>
          <a:prstGeom prst="rect">
            <a:avLst/>
          </a:prstGeom>
          <a:solidFill>
            <a:srgbClr val="1A1518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C6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實體空間 · SPACE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1996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門市四視角 — 打牌區 · 餐飲吧 · 商品區 · 入口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單店經濟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盯住「損益兩平佔用率」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≈ 19%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示意:此成本結構下,佔用率約 19% 即損益兩平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兩平佔用率 = </a:t>
            </a:r>
            <a:pPr algn="ctr" indent="0" marL="0">
              <a:buNone/>
            </a:pPr>
            <a:r>
              <a:rPr lang="en-US" sz="14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固定支出 ÷ (總桌時 × 每桌時貢獻)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7E9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最敏感的兩個槓桿:場地費 與 佔用率。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87E9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數字務必換成高雄實際報價。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126480" y="192024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12648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月淨利 (NT$,示意) — 隨佔用率成長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規模化 · 商業模式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不只開店,而是一個平台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14884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D7A0B2"/>
          </a:solidFill>
          <a:ln w="6350">
            <a:solidFill>
              <a:srgbClr val="D7A0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1488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自營門市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31821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全控制、全毛利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97380" y="3959352"/>
            <a:ext cx="0" cy="384048"/>
          </a:xfrm>
          <a:prstGeom prst="line">
            <a:avLst/>
          </a:prstGeom>
          <a:noFill/>
          <a:ln w="19050">
            <a:solidFill>
              <a:srgbClr val="B3A3A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29000" y="19202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0" y="214884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E0BDC8"/>
          </a:solidFill>
          <a:ln w="6350">
            <a:solidFill>
              <a:srgbClr val="E0BD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21488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加盟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657600" y="31821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 + SOP,收權利金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86300" y="3959352"/>
            <a:ext cx="0" cy="384048"/>
          </a:xfrm>
          <a:prstGeom prst="line">
            <a:avLst/>
          </a:prstGeom>
          <a:noFill/>
          <a:ln w="19050">
            <a:solidFill>
              <a:srgbClr val="B3A3A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17920" y="19202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214884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E0BDC8"/>
          </a:solidFill>
          <a:ln w="6350">
            <a:solidFill>
              <a:srgbClr val="E0BD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46520" y="21488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4652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系統授權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446520" y="31821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現有麻將館訂閱,鋪最快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475220" y="3959352"/>
            <a:ext cx="0" cy="384048"/>
          </a:xfrm>
          <a:prstGeom prst="line">
            <a:avLst/>
          </a:prstGeom>
          <a:noFill/>
          <a:ln w="19050">
            <a:solidFill>
              <a:srgbClr val="B3A3A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06840" y="19202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235440" y="2148840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C87E92"/>
          </a:solidFill>
          <a:ln w="6350">
            <a:solidFill>
              <a:srgbClr val="C87E9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35440" y="21488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B2C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23544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私場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235440" y="31821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私人/社團,只記分不碰賭資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0264140" y="3959352"/>
            <a:ext cx="0" cy="384048"/>
          </a:xfrm>
          <a:prstGeom prst="line">
            <a:avLst/>
          </a:prstGeom>
          <a:noFill/>
          <a:ln w="19050">
            <a:solidFill>
              <a:srgbClr val="B3A3A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40080" y="4453128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C3A6CA"/>
          </a:solidFill>
          <a:ln w="12700">
            <a:solidFill>
              <a:srgbClr val="BCA6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0080" y="4453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63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共用成績 · 段位 · 資料網路 —— 越多節點越值錢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40080" y="54589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每條通路都把資料灌進同一個網路(段位跨通路可攜);私場一律「不經手賭資,只做社交/記分/配桌」。先自營驗證,再開放加盟與授權。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路線圖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分三階段,先站穩再放大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rgbClr val="D7A0B2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9164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單店驗證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合法營運 + 點數/會員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人工配桌與成績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證明單店獲利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21031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2377440"/>
            <a:ext cx="640080" cy="640080"/>
          </a:xfrm>
          <a:prstGeom prst="ellipse">
            <a:avLst/>
          </a:prstGeom>
          <a:solidFill>
            <a:srgbClr val="C3A6CA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57784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46320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牌譜辨識 → 自動成績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全自動配桌引擎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累積大數據資產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0" y="21031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2A2026"/>
          </a:solidFill>
          <a:ln w="12700">
            <a:solidFill>
              <a:srgbClr val="3F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0" y="2377440"/>
            <a:ext cx="640080" cy="640080"/>
          </a:xfrm>
          <a:prstGeom prst="ellipse">
            <a:avLst/>
          </a:prstGeom>
          <a:solidFill>
            <a:srgbClr val="C87E92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5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46404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連鎖 + IP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732520" y="33375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第二店起:規則統一、成績可攜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旗艦競技場 + 明星 IP + 聯名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(後續)車隊接送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介面設計 · MIGI CIS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會員端介面 I — 錢包 · 配桌 · 成績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828800" y="1828800"/>
            <a:ext cx="2468880" cy="445991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988083" y="1892513"/>
            <a:ext cx="47784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988083" y="2035867"/>
            <a:ext cx="955695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83545" y="2019939"/>
            <a:ext cx="238924" cy="23892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10" name="Text 7"/>
          <p:cNvSpPr/>
          <p:nvPr/>
        </p:nvSpPr>
        <p:spPr>
          <a:xfrm>
            <a:off x="3883545" y="2019939"/>
            <a:ext cx="238924" cy="23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1844728" y="5954219"/>
            <a:ext cx="2437023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48262" y="6017932"/>
            <a:ext cx="509704" cy="191139"/>
          </a:xfrm>
          <a:prstGeom prst="roundRect">
            <a:avLst>
              <a:gd name="adj" fmla="val 43056"/>
            </a:avLst>
          </a:prstGeom>
          <a:solidFill>
            <a:srgbClr val="FAD6DC"/>
          </a:solidFill>
          <a:ln/>
        </p:spPr>
      </p:sp>
      <p:sp>
        <p:nvSpPr>
          <p:cNvPr id="13" name="Text 10"/>
          <p:cNvSpPr/>
          <p:nvPr/>
        </p:nvSpPr>
        <p:spPr>
          <a:xfrm>
            <a:off x="1948262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錢包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2513715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079168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644621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商城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1988083" y="2322576"/>
            <a:ext cx="2150315" cy="891982"/>
          </a:xfrm>
          <a:prstGeom prst="roundRect">
            <a:avLst>
              <a:gd name="adj" fmla="val 13327"/>
            </a:avLst>
          </a:prstGeom>
          <a:solidFill>
            <a:srgbClr val="FAD6DC"/>
          </a:solidFill>
          <a:ln/>
        </p:spPr>
      </p:sp>
      <p:sp>
        <p:nvSpPr>
          <p:cNvPr id="18" name="Text 15"/>
          <p:cNvSpPr/>
          <p:nvPr/>
        </p:nvSpPr>
        <p:spPr>
          <a:xfrm>
            <a:off x="2099580" y="2402217"/>
            <a:ext cx="955695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我的點數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3310128" y="2402217"/>
            <a:ext cx="732700" cy="127426"/>
          </a:xfrm>
          <a:prstGeom prst="roundRect">
            <a:avLst>
              <a:gd name="adj" fmla="val 50232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310128" y="2402217"/>
            <a:ext cx="732700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焦糖布丁 · 金牌熊II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2099580" y="2529643"/>
            <a:ext cx="1592826" cy="20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12,800</a:t>
            </a:r>
            <a:pPr indent="0" marL="0">
              <a:buNone/>
            </a:pPr>
            <a:r>
              <a:rPr lang="en-US" sz="7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點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099580" y="2927850"/>
            <a:ext cx="939767" cy="207067"/>
          </a:xfrm>
          <a:prstGeom prst="roundRect">
            <a:avLst>
              <a:gd name="adj" fmla="val 44160"/>
            </a:avLst>
          </a:prstGeom>
          <a:solidFill>
            <a:srgbClr val="2E2B2C"/>
          </a:solidFill>
          <a:ln/>
        </p:spPr>
      </p:sp>
      <p:sp>
        <p:nvSpPr>
          <p:cNvPr id="23" name="Text 20"/>
          <p:cNvSpPr/>
          <p:nvPr/>
        </p:nvSpPr>
        <p:spPr>
          <a:xfrm>
            <a:off x="2099580" y="2927850"/>
            <a:ext cx="939767" cy="20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儲值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3103061" y="2927850"/>
            <a:ext cx="939767" cy="207067"/>
          </a:xfrm>
          <a:prstGeom prst="roundRect">
            <a:avLst>
              <a:gd name="adj" fmla="val 44160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103061" y="2927850"/>
            <a:ext cx="939767" cy="20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明細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1988083" y="3310128"/>
            <a:ext cx="2150315" cy="207067"/>
          </a:xfrm>
          <a:prstGeom prst="roundRect">
            <a:avLst>
              <a:gd name="adj" fmla="val 39744"/>
            </a:avLst>
          </a:prstGeom>
          <a:solidFill>
            <a:srgbClr val="FFF7F9"/>
          </a:solidFill>
          <a:ln w="6350">
            <a:solidFill>
              <a:srgbClr val="F0CDD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83652" y="3389769"/>
            <a:ext cx="47785" cy="47785"/>
          </a:xfrm>
          <a:prstGeom prst="ellipse">
            <a:avLst/>
          </a:prstGeom>
          <a:solidFill>
            <a:srgbClr val="C2607A"/>
          </a:solidFill>
          <a:ln/>
        </p:spPr>
      </p:sp>
      <p:sp>
        <p:nvSpPr>
          <p:cNvPr id="28" name="Text 25"/>
          <p:cNvSpPr/>
          <p:nvPr/>
        </p:nvSpPr>
        <p:spPr>
          <a:xfrm>
            <a:off x="2179222" y="3310128"/>
            <a:ext cx="1353902" cy="20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今晚 19:30 · T4 桌已預約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660550" y="3310128"/>
            <a:ext cx="382278" cy="20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1988083" y="3596837"/>
            <a:ext cx="955695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最近消費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660550" y="3596837"/>
            <a:ext cx="477848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1988083" y="3795940"/>
            <a:ext cx="191139" cy="254852"/>
          </a:xfrm>
          <a:prstGeom prst="roundRect">
            <a:avLst>
              <a:gd name="adj" fmla="val 19136"/>
            </a:avLst>
          </a:prstGeom>
          <a:solidFill>
            <a:srgbClr val="FAD6DC"/>
          </a:solidFill>
          <a:ln/>
        </p:spPr>
      </p:sp>
      <p:sp>
        <p:nvSpPr>
          <p:cNvPr id="33" name="Text 30"/>
          <p:cNvSpPr/>
          <p:nvPr/>
        </p:nvSpPr>
        <p:spPr>
          <a:xfrm>
            <a:off x="1988083" y="3795940"/>
            <a:ext cx="191139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2242935" y="3795940"/>
            <a:ext cx="1194619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桌時費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2242935" y="3915402"/>
            <a:ext cx="1353902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 14:20 · 2.5 小時</a:t>
            </a:r>
            <a:endParaRPr lang="en-US" sz="530" dirty="0"/>
          </a:p>
        </p:txBody>
      </p:sp>
      <p:sp>
        <p:nvSpPr>
          <p:cNvPr id="36" name="Text 33"/>
          <p:cNvSpPr/>
          <p:nvPr/>
        </p:nvSpPr>
        <p:spPr>
          <a:xfrm>
            <a:off x="3421626" y="3795940"/>
            <a:ext cx="716772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−750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1988083" y="4090613"/>
            <a:ext cx="2150315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988083" y="4130433"/>
            <a:ext cx="191139" cy="254852"/>
          </a:xfrm>
          <a:prstGeom prst="roundRect">
            <a:avLst>
              <a:gd name="adj" fmla="val 19136"/>
            </a:avLst>
          </a:prstGeom>
          <a:solidFill>
            <a:srgbClr val="EFE3DA"/>
          </a:solidFill>
          <a:ln/>
        </p:spPr>
      </p:sp>
      <p:sp>
        <p:nvSpPr>
          <p:cNvPr id="39" name="Text 36"/>
          <p:cNvSpPr/>
          <p:nvPr/>
        </p:nvSpPr>
        <p:spPr>
          <a:xfrm>
            <a:off x="1988083" y="4130433"/>
            <a:ext cx="191139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茶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2242935" y="4130433"/>
            <a:ext cx="1194619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經典奶茶 ×2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2242935" y="4249895"/>
            <a:ext cx="1353902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 15:02 · T3 桌</a:t>
            </a:r>
            <a:endParaRPr lang="en-US" sz="530" dirty="0"/>
          </a:p>
        </p:txBody>
      </p:sp>
      <p:sp>
        <p:nvSpPr>
          <p:cNvPr id="42" name="Text 39"/>
          <p:cNvSpPr/>
          <p:nvPr/>
        </p:nvSpPr>
        <p:spPr>
          <a:xfrm>
            <a:off x="3421626" y="4130433"/>
            <a:ext cx="716772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−160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1988083" y="4425106"/>
            <a:ext cx="2150315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988083" y="4464927"/>
            <a:ext cx="191139" cy="254852"/>
          </a:xfrm>
          <a:prstGeom prst="roundRect">
            <a:avLst>
              <a:gd name="adj" fmla="val 19136"/>
            </a:avLst>
          </a:prstGeom>
          <a:solidFill>
            <a:srgbClr val="F0EFEE"/>
          </a:solidFill>
          <a:ln/>
        </p:spPr>
      </p:sp>
      <p:sp>
        <p:nvSpPr>
          <p:cNvPr id="45" name="Text 42"/>
          <p:cNvSpPr/>
          <p:nvPr/>
        </p:nvSpPr>
        <p:spPr>
          <a:xfrm>
            <a:off x="1988083" y="4464927"/>
            <a:ext cx="191139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242935" y="4464927"/>
            <a:ext cx="1194619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儲值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2242935" y="4584389"/>
            <a:ext cx="1353902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6/9 19:44 · LINE Pay</a:t>
            </a:r>
            <a:endParaRPr lang="en-US" sz="530" dirty="0"/>
          </a:p>
        </p:txBody>
      </p:sp>
      <p:sp>
        <p:nvSpPr>
          <p:cNvPr id="48" name="Text 45"/>
          <p:cNvSpPr/>
          <p:nvPr/>
        </p:nvSpPr>
        <p:spPr>
          <a:xfrm>
            <a:off x="3421626" y="4464927"/>
            <a:ext cx="716772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+5,000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4846320" y="1828800"/>
            <a:ext cx="2468880" cy="445991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5005603" y="1892513"/>
            <a:ext cx="47784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5005603" y="2035867"/>
            <a:ext cx="955695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901065" y="2019939"/>
            <a:ext cx="238924" cy="23892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53" name="Text 50"/>
          <p:cNvSpPr/>
          <p:nvPr/>
        </p:nvSpPr>
        <p:spPr>
          <a:xfrm>
            <a:off x="6901065" y="2019939"/>
            <a:ext cx="238924" cy="23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4862248" y="5954219"/>
            <a:ext cx="2437023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965782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錢包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5531235" y="6017932"/>
            <a:ext cx="509704" cy="191139"/>
          </a:xfrm>
          <a:prstGeom prst="roundRect">
            <a:avLst>
              <a:gd name="adj" fmla="val 43056"/>
            </a:avLst>
          </a:prstGeom>
          <a:solidFill>
            <a:srgbClr val="FAD6DC"/>
          </a:solidFill>
          <a:ln/>
        </p:spPr>
      </p:sp>
      <p:sp>
        <p:nvSpPr>
          <p:cNvPr id="57" name="Text 54"/>
          <p:cNvSpPr/>
          <p:nvPr/>
        </p:nvSpPr>
        <p:spPr>
          <a:xfrm>
            <a:off x="5531235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6096688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</a:t>
            </a:r>
            <a:endParaRPr lang="en-US" sz="650" dirty="0"/>
          </a:p>
        </p:txBody>
      </p:sp>
      <p:sp>
        <p:nvSpPr>
          <p:cNvPr id="59" name="Text 56"/>
          <p:cNvSpPr/>
          <p:nvPr/>
        </p:nvSpPr>
        <p:spPr>
          <a:xfrm>
            <a:off x="6662141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商城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5005603" y="2322576"/>
            <a:ext cx="2150315" cy="461919"/>
          </a:xfrm>
          <a:prstGeom prst="roundRect">
            <a:avLst>
              <a:gd name="adj" fmla="val 25734"/>
            </a:avLst>
          </a:prstGeom>
          <a:solidFill>
            <a:srgbClr val="FAD6DC"/>
          </a:solidFill>
          <a:ln/>
        </p:spPr>
      </p:sp>
      <p:sp>
        <p:nvSpPr>
          <p:cNvPr id="61" name="Text 58"/>
          <p:cNvSpPr/>
          <p:nvPr/>
        </p:nvSpPr>
        <p:spPr>
          <a:xfrm>
            <a:off x="5117100" y="2386289"/>
            <a:ext cx="1274261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我要配桌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5117100" y="2561500"/>
            <a:ext cx="1831750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依段位與時間幫妳湊一桌剛剛好的</a:t>
            </a:r>
            <a:endParaRPr lang="en-US" sz="530" dirty="0"/>
          </a:p>
        </p:txBody>
      </p:sp>
      <p:sp>
        <p:nvSpPr>
          <p:cNvPr id="63" name="Text 60"/>
          <p:cNvSpPr/>
          <p:nvPr/>
        </p:nvSpPr>
        <p:spPr>
          <a:xfrm>
            <a:off x="5005603" y="2895993"/>
            <a:ext cx="796413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牌型</a:t>
            </a:r>
            <a:endParaRPr lang="en-US" sz="600" dirty="0"/>
          </a:p>
        </p:txBody>
      </p:sp>
      <p:sp>
        <p:nvSpPr>
          <p:cNvPr id="64" name="Shape 61"/>
          <p:cNvSpPr/>
          <p:nvPr/>
        </p:nvSpPr>
        <p:spPr>
          <a:xfrm>
            <a:off x="5005603" y="3023419"/>
            <a:ext cx="573417" cy="175211"/>
          </a:xfrm>
          <a:prstGeom prst="roundRect">
            <a:avLst>
              <a:gd name="adj" fmla="val 46970"/>
            </a:avLst>
          </a:prstGeom>
          <a:solidFill>
            <a:srgbClr val="FAD6DC"/>
          </a:solidFill>
          <a:ln/>
        </p:spPr>
      </p:sp>
      <p:sp>
        <p:nvSpPr>
          <p:cNvPr id="65" name="Text 62"/>
          <p:cNvSpPr/>
          <p:nvPr/>
        </p:nvSpPr>
        <p:spPr>
          <a:xfrm>
            <a:off x="5005603" y="3023419"/>
            <a:ext cx="573417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 16 張</a:t>
            </a:r>
            <a:endParaRPr lang="en-US" sz="600" dirty="0"/>
          </a:p>
        </p:txBody>
      </p:sp>
      <p:sp>
        <p:nvSpPr>
          <p:cNvPr id="66" name="Shape 63"/>
          <p:cNvSpPr/>
          <p:nvPr/>
        </p:nvSpPr>
        <p:spPr>
          <a:xfrm>
            <a:off x="5642733" y="3023419"/>
            <a:ext cx="621202" cy="175211"/>
          </a:xfrm>
          <a:prstGeom prst="roundRect">
            <a:avLst>
              <a:gd name="adj" fmla="val 46970"/>
            </a:avLst>
          </a:prstGeom>
          <a:solidFill>
            <a:srgbClr val="F0EFEE"/>
          </a:solidFill>
          <a:ln/>
        </p:spPr>
      </p:sp>
      <p:sp>
        <p:nvSpPr>
          <p:cNvPr id="67" name="Text 64"/>
          <p:cNvSpPr/>
          <p:nvPr/>
        </p:nvSpPr>
        <p:spPr>
          <a:xfrm>
            <a:off x="5642733" y="3023419"/>
            <a:ext cx="621202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三人麻將</a:t>
            </a:r>
            <a:endParaRPr lang="en-US" sz="600" dirty="0"/>
          </a:p>
        </p:txBody>
      </p:sp>
      <p:sp>
        <p:nvSpPr>
          <p:cNvPr id="68" name="Text 65"/>
          <p:cNvSpPr/>
          <p:nvPr/>
        </p:nvSpPr>
        <p:spPr>
          <a:xfrm>
            <a:off x="5005603" y="3294200"/>
            <a:ext cx="955695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我可以打到</a:t>
            </a:r>
            <a:endParaRPr lang="en-US" sz="600" dirty="0"/>
          </a:p>
        </p:txBody>
      </p:sp>
      <p:sp>
        <p:nvSpPr>
          <p:cNvPr id="69" name="Shape 66"/>
          <p:cNvSpPr/>
          <p:nvPr/>
        </p:nvSpPr>
        <p:spPr>
          <a:xfrm>
            <a:off x="5005603" y="3421626"/>
            <a:ext cx="445991" cy="175211"/>
          </a:xfrm>
          <a:prstGeom prst="roundRect">
            <a:avLst>
              <a:gd name="adj" fmla="val 46970"/>
            </a:avLst>
          </a:prstGeom>
          <a:solidFill>
            <a:srgbClr val="F0EFEE"/>
          </a:solidFill>
          <a:ln/>
        </p:spPr>
      </p:sp>
      <p:sp>
        <p:nvSpPr>
          <p:cNvPr id="70" name="Text 67"/>
          <p:cNvSpPr/>
          <p:nvPr/>
        </p:nvSpPr>
        <p:spPr>
          <a:xfrm>
            <a:off x="5005603" y="3421626"/>
            <a:ext cx="445991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17:00</a:t>
            </a:r>
            <a:endParaRPr lang="en-US" sz="600" dirty="0"/>
          </a:p>
        </p:txBody>
      </p:sp>
      <p:sp>
        <p:nvSpPr>
          <p:cNvPr id="71" name="Shape 68"/>
          <p:cNvSpPr/>
          <p:nvPr/>
        </p:nvSpPr>
        <p:spPr>
          <a:xfrm>
            <a:off x="5515307" y="3421626"/>
            <a:ext cx="445991" cy="175211"/>
          </a:xfrm>
          <a:prstGeom prst="roundRect">
            <a:avLst>
              <a:gd name="adj" fmla="val 46970"/>
            </a:avLst>
          </a:prstGeom>
          <a:solidFill>
            <a:srgbClr val="FAD6DC"/>
          </a:solidFill>
          <a:ln/>
        </p:spPr>
      </p:sp>
      <p:sp>
        <p:nvSpPr>
          <p:cNvPr id="72" name="Text 69"/>
          <p:cNvSpPr/>
          <p:nvPr/>
        </p:nvSpPr>
        <p:spPr>
          <a:xfrm>
            <a:off x="5515307" y="3421626"/>
            <a:ext cx="445991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17:30</a:t>
            </a:r>
            <a:endParaRPr lang="en-US" sz="600" dirty="0"/>
          </a:p>
        </p:txBody>
      </p:sp>
      <p:sp>
        <p:nvSpPr>
          <p:cNvPr id="73" name="Shape 70"/>
          <p:cNvSpPr/>
          <p:nvPr/>
        </p:nvSpPr>
        <p:spPr>
          <a:xfrm>
            <a:off x="6025011" y="3421626"/>
            <a:ext cx="445991" cy="175211"/>
          </a:xfrm>
          <a:prstGeom prst="roundRect">
            <a:avLst>
              <a:gd name="adj" fmla="val 46970"/>
            </a:avLst>
          </a:prstGeom>
          <a:solidFill>
            <a:srgbClr val="F0EFEE"/>
          </a:solidFill>
          <a:ln/>
        </p:spPr>
      </p:sp>
      <p:sp>
        <p:nvSpPr>
          <p:cNvPr id="74" name="Text 71"/>
          <p:cNvSpPr/>
          <p:nvPr/>
        </p:nvSpPr>
        <p:spPr>
          <a:xfrm>
            <a:off x="6025011" y="3421626"/>
            <a:ext cx="445991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18:00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5005603" y="3644621"/>
            <a:ext cx="2150315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可彈性 ±30 分 · 到點有人補位,牌局不中斷</a:t>
            </a:r>
            <a:endParaRPr lang="en-US" sz="530" dirty="0"/>
          </a:p>
        </p:txBody>
      </p:sp>
      <p:sp>
        <p:nvSpPr>
          <p:cNvPr id="76" name="Shape 73"/>
          <p:cNvSpPr/>
          <p:nvPr/>
        </p:nvSpPr>
        <p:spPr>
          <a:xfrm>
            <a:off x="5005603" y="3851689"/>
            <a:ext cx="2150315" cy="254852"/>
          </a:xfrm>
          <a:prstGeom prst="roundRect">
            <a:avLst>
              <a:gd name="adj" fmla="val 50232"/>
            </a:avLst>
          </a:prstGeom>
          <a:solidFill>
            <a:srgbClr val="2E2B2C"/>
          </a:solidFill>
          <a:ln/>
        </p:spPr>
      </p:sp>
      <p:sp>
        <p:nvSpPr>
          <p:cNvPr id="77" name="Text 74"/>
          <p:cNvSpPr/>
          <p:nvPr/>
        </p:nvSpPr>
        <p:spPr>
          <a:xfrm>
            <a:off x="5005603" y="3851689"/>
            <a:ext cx="2150315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幫我配桌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5005603" y="4218039"/>
            <a:ext cx="2150315" cy="430063"/>
          </a:xfrm>
          <a:prstGeom prst="roundRect">
            <a:avLst>
              <a:gd name="adj" fmla="val 19136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01172" y="4281752"/>
            <a:ext cx="1274261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候補中 · 前面 2 組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6566572" y="4281752"/>
            <a:ext cx="493776" cy="127426"/>
          </a:xfrm>
          <a:prstGeom prst="roundRect">
            <a:avLst>
              <a:gd name="adj" fmla="val 50232"/>
            </a:avLst>
          </a:prstGeom>
          <a:solidFill>
            <a:srgbClr val="F0EFEE"/>
          </a:solidFill>
          <a:ln/>
        </p:spPr>
      </p:sp>
      <p:sp>
        <p:nvSpPr>
          <p:cNvPr id="81" name="Text 78"/>
          <p:cNvSpPr/>
          <p:nvPr/>
        </p:nvSpPr>
        <p:spPr>
          <a:xfrm>
            <a:off x="6566572" y="4281752"/>
            <a:ext cx="493776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金牌熊場</a:t>
            </a:r>
            <a:endParaRPr lang="en-US" sz="530" dirty="0"/>
          </a:p>
        </p:txBody>
      </p:sp>
      <p:sp>
        <p:nvSpPr>
          <p:cNvPr id="82" name="Text 79"/>
          <p:cNvSpPr/>
          <p:nvPr/>
        </p:nvSpPr>
        <p:spPr>
          <a:xfrm>
            <a:off x="5101172" y="4441034"/>
            <a:ext cx="1911391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湊齊會用 LINE 通知妳,先去逛逛沒關係 ♡</a:t>
            </a:r>
            <a:endParaRPr lang="en-US" sz="530" dirty="0"/>
          </a:p>
        </p:txBody>
      </p:sp>
      <p:sp>
        <p:nvSpPr>
          <p:cNvPr id="83" name="Shape 80"/>
          <p:cNvSpPr/>
          <p:nvPr/>
        </p:nvSpPr>
        <p:spPr>
          <a:xfrm>
            <a:off x="7863840" y="1828800"/>
            <a:ext cx="2468880" cy="445991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4" name="Text 81"/>
          <p:cNvSpPr/>
          <p:nvPr/>
        </p:nvSpPr>
        <p:spPr>
          <a:xfrm>
            <a:off x="8023123" y="1892513"/>
            <a:ext cx="47784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600" dirty="0"/>
          </a:p>
        </p:txBody>
      </p:sp>
      <p:sp>
        <p:nvSpPr>
          <p:cNvPr id="85" name="Text 82"/>
          <p:cNvSpPr/>
          <p:nvPr/>
        </p:nvSpPr>
        <p:spPr>
          <a:xfrm>
            <a:off x="8023123" y="2035867"/>
            <a:ext cx="955695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9918585" y="2019939"/>
            <a:ext cx="238924" cy="23892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87" name="Text 84"/>
          <p:cNvSpPr/>
          <p:nvPr/>
        </p:nvSpPr>
        <p:spPr>
          <a:xfrm>
            <a:off x="9918585" y="2019939"/>
            <a:ext cx="238924" cy="23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600" dirty="0"/>
          </a:p>
        </p:txBody>
      </p:sp>
      <p:sp>
        <p:nvSpPr>
          <p:cNvPr id="88" name="Shape 85"/>
          <p:cNvSpPr/>
          <p:nvPr/>
        </p:nvSpPr>
        <p:spPr>
          <a:xfrm>
            <a:off x="7879768" y="5954219"/>
            <a:ext cx="2437023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983302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錢包</a:t>
            </a:r>
            <a:endParaRPr lang="en-US" sz="650" dirty="0"/>
          </a:p>
        </p:txBody>
      </p:sp>
      <p:sp>
        <p:nvSpPr>
          <p:cNvPr id="90" name="Text 87"/>
          <p:cNvSpPr/>
          <p:nvPr/>
        </p:nvSpPr>
        <p:spPr>
          <a:xfrm>
            <a:off x="8548755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</a:t>
            </a:r>
            <a:endParaRPr lang="en-US" sz="650" dirty="0"/>
          </a:p>
        </p:txBody>
      </p:sp>
      <p:sp>
        <p:nvSpPr>
          <p:cNvPr id="91" name="Shape 88"/>
          <p:cNvSpPr/>
          <p:nvPr/>
        </p:nvSpPr>
        <p:spPr>
          <a:xfrm>
            <a:off x="9114208" y="6017932"/>
            <a:ext cx="509704" cy="191139"/>
          </a:xfrm>
          <a:prstGeom prst="roundRect">
            <a:avLst>
              <a:gd name="adj" fmla="val 43056"/>
            </a:avLst>
          </a:prstGeom>
          <a:solidFill>
            <a:srgbClr val="FAD6DC"/>
          </a:solidFill>
          <a:ln/>
        </p:spPr>
      </p:sp>
      <p:sp>
        <p:nvSpPr>
          <p:cNvPr id="92" name="Text 89"/>
          <p:cNvSpPr/>
          <p:nvPr/>
        </p:nvSpPr>
        <p:spPr>
          <a:xfrm>
            <a:off x="9114208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</a:t>
            </a:r>
            <a:endParaRPr lang="en-US" sz="650" dirty="0"/>
          </a:p>
        </p:txBody>
      </p:sp>
      <p:sp>
        <p:nvSpPr>
          <p:cNvPr id="93" name="Text 90"/>
          <p:cNvSpPr/>
          <p:nvPr/>
        </p:nvSpPr>
        <p:spPr>
          <a:xfrm>
            <a:off x="9679661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商城</a:t>
            </a:r>
            <a:endParaRPr lang="en-US" sz="650" dirty="0"/>
          </a:p>
        </p:txBody>
      </p:sp>
      <p:sp>
        <p:nvSpPr>
          <p:cNvPr id="94" name="Shape 91"/>
          <p:cNvSpPr/>
          <p:nvPr/>
        </p:nvSpPr>
        <p:spPr>
          <a:xfrm>
            <a:off x="8023123" y="2322576"/>
            <a:ext cx="2150315" cy="525633"/>
          </a:xfrm>
          <a:prstGeom prst="roundRect">
            <a:avLst>
              <a:gd name="adj" fmla="val 22615"/>
            </a:avLst>
          </a:prstGeom>
          <a:solidFill>
            <a:srgbClr val="FAD6DC"/>
          </a:solidFill>
          <a:ln/>
        </p:spPr>
      </p:sp>
      <p:sp>
        <p:nvSpPr>
          <p:cNvPr id="95" name="Shape 92"/>
          <p:cNvSpPr/>
          <p:nvPr/>
        </p:nvSpPr>
        <p:spPr>
          <a:xfrm>
            <a:off x="8134620" y="2434074"/>
            <a:ext cx="302637" cy="30263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6" name="Text 93"/>
          <p:cNvSpPr/>
          <p:nvPr/>
        </p:nvSpPr>
        <p:spPr>
          <a:xfrm>
            <a:off x="8134620" y="2434074"/>
            <a:ext cx="302637" cy="3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金牌熊</a:t>
            </a:r>
            <a:endParaRPr lang="en-US" sz="650" dirty="0"/>
          </a:p>
        </p:txBody>
      </p:sp>
      <p:sp>
        <p:nvSpPr>
          <p:cNvPr id="97" name="Text 94"/>
          <p:cNvSpPr/>
          <p:nvPr/>
        </p:nvSpPr>
        <p:spPr>
          <a:xfrm>
            <a:off x="8516899" y="2450002"/>
            <a:ext cx="1433543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距離四段還差 180 分</a:t>
            </a:r>
            <a:endParaRPr lang="en-US" sz="700" dirty="0"/>
          </a:p>
        </p:txBody>
      </p:sp>
      <p:sp>
        <p:nvSpPr>
          <p:cNvPr id="98" name="Shape 95"/>
          <p:cNvSpPr/>
          <p:nvPr/>
        </p:nvSpPr>
        <p:spPr>
          <a:xfrm>
            <a:off x="8516899" y="2625213"/>
            <a:ext cx="1545041" cy="47785"/>
          </a:xfrm>
          <a:prstGeom prst="roundRect">
            <a:avLst>
              <a:gd name="adj" fmla="val 57407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99" name="Shape 96"/>
          <p:cNvSpPr/>
          <p:nvPr/>
        </p:nvSpPr>
        <p:spPr>
          <a:xfrm>
            <a:off x="8516899" y="2625213"/>
            <a:ext cx="987552" cy="47785"/>
          </a:xfrm>
          <a:prstGeom prst="roundRect">
            <a:avLst>
              <a:gd name="adj" fmla="val 57407"/>
            </a:avLst>
          </a:prstGeom>
          <a:solidFill>
            <a:srgbClr val="C2607A"/>
          </a:solidFill>
          <a:ln/>
        </p:spPr>
      </p:sp>
      <p:sp>
        <p:nvSpPr>
          <p:cNvPr id="100" name="Shape 97"/>
          <p:cNvSpPr/>
          <p:nvPr/>
        </p:nvSpPr>
        <p:spPr>
          <a:xfrm>
            <a:off x="8023123" y="2975635"/>
            <a:ext cx="1043301" cy="366350"/>
          </a:xfrm>
          <a:prstGeom prst="roundRect">
            <a:avLst>
              <a:gd name="adj" fmla="val 22464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102764" y="3023419"/>
            <a:ext cx="876054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和牌率</a:t>
            </a:r>
            <a:endParaRPr lang="en-US" sz="550" dirty="0"/>
          </a:p>
        </p:txBody>
      </p:sp>
      <p:sp>
        <p:nvSpPr>
          <p:cNvPr id="102" name="Text 99"/>
          <p:cNvSpPr/>
          <p:nvPr/>
        </p:nvSpPr>
        <p:spPr>
          <a:xfrm>
            <a:off x="8102764" y="3126953"/>
            <a:ext cx="876054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23.4%</a:t>
            </a:r>
            <a:endParaRPr lang="en-US" sz="1000" dirty="0"/>
          </a:p>
        </p:txBody>
      </p:sp>
      <p:sp>
        <p:nvSpPr>
          <p:cNvPr id="103" name="Shape 100"/>
          <p:cNvSpPr/>
          <p:nvPr/>
        </p:nvSpPr>
        <p:spPr>
          <a:xfrm>
            <a:off x="9130137" y="2975635"/>
            <a:ext cx="1043301" cy="366350"/>
          </a:xfrm>
          <a:prstGeom prst="roundRect">
            <a:avLst>
              <a:gd name="adj" fmla="val 22464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9209778" y="3023419"/>
            <a:ext cx="876054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放槍率</a:t>
            </a:r>
            <a:endParaRPr lang="en-US" sz="550" dirty="0"/>
          </a:p>
        </p:txBody>
      </p:sp>
      <p:sp>
        <p:nvSpPr>
          <p:cNvPr id="105" name="Text 102"/>
          <p:cNvSpPr/>
          <p:nvPr/>
        </p:nvSpPr>
        <p:spPr>
          <a:xfrm>
            <a:off x="9209778" y="3126953"/>
            <a:ext cx="876054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11.2%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8023123" y="3405698"/>
            <a:ext cx="1043301" cy="366350"/>
          </a:xfrm>
          <a:prstGeom prst="roundRect">
            <a:avLst>
              <a:gd name="adj" fmla="val 22464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8102764" y="3453482"/>
            <a:ext cx="876054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平均順位</a:t>
            </a:r>
            <a:endParaRPr lang="en-US" sz="550" dirty="0"/>
          </a:p>
        </p:txBody>
      </p:sp>
      <p:sp>
        <p:nvSpPr>
          <p:cNvPr id="108" name="Text 105"/>
          <p:cNvSpPr/>
          <p:nvPr/>
        </p:nvSpPr>
        <p:spPr>
          <a:xfrm>
            <a:off x="8102764" y="3557016"/>
            <a:ext cx="876054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000" dirty="0"/>
          </a:p>
        </p:txBody>
      </p:sp>
      <p:sp>
        <p:nvSpPr>
          <p:cNvPr id="109" name="Shape 106"/>
          <p:cNvSpPr/>
          <p:nvPr/>
        </p:nvSpPr>
        <p:spPr>
          <a:xfrm>
            <a:off x="9130137" y="3405698"/>
            <a:ext cx="1043301" cy="366350"/>
          </a:xfrm>
          <a:prstGeom prst="roundRect">
            <a:avLst>
              <a:gd name="adj" fmla="val 22464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9209778" y="3453482"/>
            <a:ext cx="876054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全國排名</a:t>
            </a:r>
            <a:endParaRPr lang="en-US" sz="550" dirty="0"/>
          </a:p>
        </p:txBody>
      </p:sp>
      <p:sp>
        <p:nvSpPr>
          <p:cNvPr id="111" name="Text 108"/>
          <p:cNvSpPr/>
          <p:nvPr/>
        </p:nvSpPr>
        <p:spPr>
          <a:xfrm>
            <a:off x="9209778" y="3557016"/>
            <a:ext cx="876054" cy="17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#128</a:t>
            </a:r>
            <a:endParaRPr lang="en-US" sz="1000" dirty="0"/>
          </a:p>
        </p:txBody>
      </p:sp>
      <p:sp>
        <p:nvSpPr>
          <p:cNvPr id="112" name="Text 109"/>
          <p:cNvSpPr/>
          <p:nvPr/>
        </p:nvSpPr>
        <p:spPr>
          <a:xfrm>
            <a:off x="8023123" y="3899474"/>
            <a:ext cx="955695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最近對局</a:t>
            </a:r>
            <a:endParaRPr lang="en-US" sz="700" dirty="0"/>
          </a:p>
        </p:txBody>
      </p:sp>
      <p:sp>
        <p:nvSpPr>
          <p:cNvPr id="113" name="Shape 110"/>
          <p:cNvSpPr/>
          <p:nvPr/>
        </p:nvSpPr>
        <p:spPr>
          <a:xfrm>
            <a:off x="8023123" y="4082649"/>
            <a:ext cx="191139" cy="254852"/>
          </a:xfrm>
          <a:prstGeom prst="roundRect">
            <a:avLst>
              <a:gd name="adj" fmla="val 19136"/>
            </a:avLst>
          </a:prstGeom>
          <a:solidFill>
            <a:srgbClr val="FAD6DC"/>
          </a:solidFill>
          <a:ln/>
        </p:spPr>
      </p:sp>
      <p:sp>
        <p:nvSpPr>
          <p:cNvPr id="114" name="Text 111"/>
          <p:cNvSpPr/>
          <p:nvPr/>
        </p:nvSpPr>
        <p:spPr>
          <a:xfrm>
            <a:off x="8023123" y="4082649"/>
            <a:ext cx="191139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勝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277975" y="4082649"/>
            <a:ext cx="1194619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名 · +48</a:t>
            </a:r>
            <a:endParaRPr lang="en-US" sz="650" dirty="0"/>
          </a:p>
        </p:txBody>
      </p:sp>
      <p:sp>
        <p:nvSpPr>
          <p:cNvPr id="116" name="Text 113"/>
          <p:cNvSpPr/>
          <p:nvPr/>
        </p:nvSpPr>
        <p:spPr>
          <a:xfrm>
            <a:off x="8277975" y="4202110"/>
            <a:ext cx="1353902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 16:40 · 旗艦店</a:t>
            </a:r>
            <a:endParaRPr lang="en-US" sz="530" dirty="0"/>
          </a:p>
        </p:txBody>
      </p:sp>
      <p:sp>
        <p:nvSpPr>
          <p:cNvPr id="117" name="Text 114"/>
          <p:cNvSpPr/>
          <p:nvPr/>
        </p:nvSpPr>
        <p:spPr>
          <a:xfrm>
            <a:off x="9456666" y="4082649"/>
            <a:ext cx="716772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回放</a:t>
            </a:r>
            <a:endParaRPr lang="en-US" sz="650" dirty="0"/>
          </a:p>
        </p:txBody>
      </p:sp>
      <p:sp>
        <p:nvSpPr>
          <p:cNvPr id="118" name="Shape 115"/>
          <p:cNvSpPr/>
          <p:nvPr/>
        </p:nvSpPr>
        <p:spPr>
          <a:xfrm>
            <a:off x="8023123" y="4377321"/>
            <a:ext cx="2150315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8023123" y="4417142"/>
            <a:ext cx="191139" cy="254852"/>
          </a:xfrm>
          <a:prstGeom prst="roundRect">
            <a:avLst>
              <a:gd name="adj" fmla="val 19136"/>
            </a:avLst>
          </a:prstGeom>
          <a:solidFill>
            <a:srgbClr val="F0EFEE"/>
          </a:solidFill>
          <a:ln/>
        </p:spPr>
      </p:sp>
      <p:sp>
        <p:nvSpPr>
          <p:cNvPr id="120" name="Text 117"/>
          <p:cNvSpPr/>
          <p:nvPr/>
        </p:nvSpPr>
        <p:spPr>
          <a:xfrm>
            <a:off x="8023123" y="4417142"/>
            <a:ext cx="191139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8277975" y="4417142"/>
            <a:ext cx="1194619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名 · −16</a:t>
            </a:r>
            <a:endParaRPr lang="en-US" sz="650" dirty="0"/>
          </a:p>
        </p:txBody>
      </p:sp>
      <p:sp>
        <p:nvSpPr>
          <p:cNvPr id="122" name="Text 119"/>
          <p:cNvSpPr/>
          <p:nvPr/>
        </p:nvSpPr>
        <p:spPr>
          <a:xfrm>
            <a:off x="8277975" y="4536604"/>
            <a:ext cx="1353902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6/9 21:05 · 旗艦店</a:t>
            </a:r>
            <a:endParaRPr lang="en-US" sz="530" dirty="0"/>
          </a:p>
        </p:txBody>
      </p:sp>
      <p:sp>
        <p:nvSpPr>
          <p:cNvPr id="123" name="Text 120"/>
          <p:cNvSpPr/>
          <p:nvPr/>
        </p:nvSpPr>
        <p:spPr>
          <a:xfrm>
            <a:off x="9456666" y="4417142"/>
            <a:ext cx="716772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回放</a:t>
            </a:r>
            <a:endParaRPr lang="en-US" sz="650" dirty="0"/>
          </a:p>
        </p:txBody>
      </p:sp>
      <p:sp>
        <p:nvSpPr>
          <p:cNvPr id="124" name="Text 121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 50 · 粉 30 · 灰 20 — 粉色僅用於主卡、主行動與品牌識別;文字一律深色。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介面設計 · MIGI CIS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會員端介面 II — 點餐 · 賽事 · 商城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828800" y="1828800"/>
            <a:ext cx="2468880" cy="445991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988083" y="1892513"/>
            <a:ext cx="47784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988083" y="2035867"/>
            <a:ext cx="955695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83545" y="2019939"/>
            <a:ext cx="238924" cy="23892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10" name="Text 7"/>
          <p:cNvSpPr/>
          <p:nvPr/>
        </p:nvSpPr>
        <p:spPr>
          <a:xfrm>
            <a:off x="3883545" y="2019939"/>
            <a:ext cx="238924" cy="23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988083" y="2322576"/>
            <a:ext cx="1114978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桌邊點餐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76478" y="2322576"/>
            <a:ext cx="382278" cy="143354"/>
          </a:xfrm>
          <a:prstGeom prst="roundRect">
            <a:avLst>
              <a:gd name="adj" fmla="val 51029"/>
            </a:avLst>
          </a:prstGeom>
          <a:solidFill>
            <a:srgbClr val="FAD6DC"/>
          </a:solidFill>
          <a:ln/>
        </p:spPr>
      </p:sp>
      <p:sp>
        <p:nvSpPr>
          <p:cNvPr id="13" name="Text 10"/>
          <p:cNvSpPr/>
          <p:nvPr/>
        </p:nvSpPr>
        <p:spPr>
          <a:xfrm>
            <a:off x="3676478" y="2322576"/>
            <a:ext cx="382278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 桌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1988083" y="2593356"/>
            <a:ext cx="191139" cy="254852"/>
          </a:xfrm>
          <a:prstGeom prst="roundRect">
            <a:avLst>
              <a:gd name="adj" fmla="val 19136"/>
            </a:avLst>
          </a:prstGeom>
          <a:solidFill>
            <a:srgbClr val="EFE3DA"/>
          </a:solidFill>
          <a:ln/>
        </p:spPr>
      </p:sp>
      <p:sp>
        <p:nvSpPr>
          <p:cNvPr id="15" name="Text 12"/>
          <p:cNvSpPr/>
          <p:nvPr/>
        </p:nvSpPr>
        <p:spPr>
          <a:xfrm>
            <a:off x="1988083" y="2593356"/>
            <a:ext cx="191139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茶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242935" y="2593356"/>
            <a:ext cx="1114978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經典奶茶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2242935" y="2712818"/>
            <a:ext cx="1194619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半糖 · 去冰</a:t>
            </a:r>
            <a:endParaRPr lang="en-US" sz="530" dirty="0"/>
          </a:p>
        </p:txBody>
      </p:sp>
      <p:sp>
        <p:nvSpPr>
          <p:cNvPr id="18" name="Text 15"/>
          <p:cNvSpPr/>
          <p:nvPr/>
        </p:nvSpPr>
        <p:spPr>
          <a:xfrm>
            <a:off x="3389769" y="2593356"/>
            <a:ext cx="414135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 點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3867617" y="2649105"/>
            <a:ext cx="143354" cy="14335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20" name="Text 17"/>
          <p:cNvSpPr/>
          <p:nvPr/>
        </p:nvSpPr>
        <p:spPr>
          <a:xfrm>
            <a:off x="3867617" y="2649105"/>
            <a:ext cx="143354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1988083" y="2927850"/>
            <a:ext cx="2150315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88083" y="2975635"/>
            <a:ext cx="191139" cy="254852"/>
          </a:xfrm>
          <a:prstGeom prst="roundRect">
            <a:avLst>
              <a:gd name="adj" fmla="val 19136"/>
            </a:avLst>
          </a:prstGeom>
          <a:solidFill>
            <a:srgbClr val="FAD6DC"/>
          </a:solidFill>
          <a:ln/>
        </p:spPr>
      </p:sp>
      <p:sp>
        <p:nvSpPr>
          <p:cNvPr id="23" name="Text 20"/>
          <p:cNvSpPr/>
          <p:nvPr/>
        </p:nvSpPr>
        <p:spPr>
          <a:xfrm>
            <a:off x="1988083" y="2975635"/>
            <a:ext cx="191139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餅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2242935" y="2975635"/>
            <a:ext cx="1114978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草莓鬆餅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2242935" y="3095097"/>
            <a:ext cx="1194619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加蜂蜜</a:t>
            </a:r>
            <a:endParaRPr lang="en-US" sz="530" dirty="0"/>
          </a:p>
        </p:txBody>
      </p:sp>
      <p:sp>
        <p:nvSpPr>
          <p:cNvPr id="26" name="Text 23"/>
          <p:cNvSpPr/>
          <p:nvPr/>
        </p:nvSpPr>
        <p:spPr>
          <a:xfrm>
            <a:off x="3389769" y="2975635"/>
            <a:ext cx="414135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 點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3867617" y="3031383"/>
            <a:ext cx="143354" cy="14335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28" name="Text 25"/>
          <p:cNvSpPr/>
          <p:nvPr/>
        </p:nvSpPr>
        <p:spPr>
          <a:xfrm>
            <a:off x="3867617" y="3031383"/>
            <a:ext cx="143354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1988083" y="3310128"/>
            <a:ext cx="2150315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88083" y="3357913"/>
            <a:ext cx="191139" cy="254852"/>
          </a:xfrm>
          <a:prstGeom prst="roundRect">
            <a:avLst>
              <a:gd name="adj" fmla="val 19136"/>
            </a:avLst>
          </a:prstGeom>
          <a:solidFill>
            <a:srgbClr val="FFE7EE"/>
          </a:solidFill>
          <a:ln/>
        </p:spPr>
      </p:sp>
      <p:sp>
        <p:nvSpPr>
          <p:cNvPr id="31" name="Text 28"/>
          <p:cNvSpPr/>
          <p:nvPr/>
        </p:nvSpPr>
        <p:spPr>
          <a:xfrm>
            <a:off x="1988083" y="3357913"/>
            <a:ext cx="191139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2242935" y="3357913"/>
            <a:ext cx="1114978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幸運小熊餅乾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2242935" y="3477375"/>
            <a:ext cx="1194619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打牌前吃會旺 ♡</a:t>
            </a:r>
            <a:endParaRPr lang="en-US" sz="530" dirty="0"/>
          </a:p>
        </p:txBody>
      </p:sp>
      <p:sp>
        <p:nvSpPr>
          <p:cNvPr id="34" name="Text 31"/>
          <p:cNvSpPr/>
          <p:nvPr/>
        </p:nvSpPr>
        <p:spPr>
          <a:xfrm>
            <a:off x="3389769" y="3357913"/>
            <a:ext cx="414135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點</a:t>
            </a:r>
            <a:endParaRPr lang="en-US" sz="600" dirty="0"/>
          </a:p>
        </p:txBody>
      </p:sp>
      <p:sp>
        <p:nvSpPr>
          <p:cNvPr id="35" name="Shape 32"/>
          <p:cNvSpPr/>
          <p:nvPr/>
        </p:nvSpPr>
        <p:spPr>
          <a:xfrm>
            <a:off x="3867617" y="3413662"/>
            <a:ext cx="143354" cy="143354"/>
          </a:xfrm>
          <a:prstGeom prst="ellipse">
            <a:avLst/>
          </a:prstGeom>
          <a:solidFill>
            <a:srgbClr val="FFFFFF"/>
          </a:solidFill>
          <a:ln w="6350">
            <a:solidFill>
              <a:srgbClr val="E6C3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67617" y="3413662"/>
            <a:ext cx="143354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988083" y="3819832"/>
            <a:ext cx="2150315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餐點會直接送到妳的桌邊,牌不用停 ♡</a:t>
            </a:r>
            <a:endParaRPr lang="en-US" sz="550" dirty="0"/>
          </a:p>
        </p:txBody>
      </p:sp>
      <p:sp>
        <p:nvSpPr>
          <p:cNvPr id="38" name="Shape 35"/>
          <p:cNvSpPr/>
          <p:nvPr/>
        </p:nvSpPr>
        <p:spPr>
          <a:xfrm>
            <a:off x="1844728" y="5938291"/>
            <a:ext cx="2437023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988083" y="6002004"/>
            <a:ext cx="2150315" cy="222996"/>
          </a:xfrm>
          <a:prstGeom prst="roundRect">
            <a:avLst>
              <a:gd name="adj" fmla="val 49206"/>
            </a:avLst>
          </a:prstGeom>
          <a:solidFill>
            <a:srgbClr val="2E2B2C"/>
          </a:solidFill>
          <a:ln/>
        </p:spPr>
      </p:sp>
      <p:sp>
        <p:nvSpPr>
          <p:cNvPr id="40" name="Text 37"/>
          <p:cNvSpPr/>
          <p:nvPr/>
        </p:nvSpPr>
        <p:spPr>
          <a:xfrm>
            <a:off x="1988083" y="6002004"/>
            <a:ext cx="2150315" cy="22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送出訂單 · 共 280 點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846320" y="1828800"/>
            <a:ext cx="2468880" cy="445991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005603" y="1892513"/>
            <a:ext cx="47784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5005603" y="2035867"/>
            <a:ext cx="955695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901065" y="2019939"/>
            <a:ext cx="238924" cy="23892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45" name="Text 42"/>
          <p:cNvSpPr/>
          <p:nvPr/>
        </p:nvSpPr>
        <p:spPr>
          <a:xfrm>
            <a:off x="6901065" y="2019939"/>
            <a:ext cx="238924" cy="23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62248" y="5954219"/>
            <a:ext cx="2437023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965782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錢包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5531235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6096688" y="6017932"/>
            <a:ext cx="509704" cy="191139"/>
          </a:xfrm>
          <a:prstGeom prst="roundRect">
            <a:avLst>
              <a:gd name="adj" fmla="val 43056"/>
            </a:avLst>
          </a:prstGeom>
          <a:solidFill>
            <a:srgbClr val="FAD6DC"/>
          </a:solidFill>
          <a:ln/>
        </p:spPr>
      </p:sp>
      <p:sp>
        <p:nvSpPr>
          <p:cNvPr id="50" name="Text 47"/>
          <p:cNvSpPr/>
          <p:nvPr/>
        </p:nvSpPr>
        <p:spPr>
          <a:xfrm>
            <a:off x="6096688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6662141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商城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5005603" y="2322576"/>
            <a:ext cx="2150315" cy="828269"/>
          </a:xfrm>
          <a:prstGeom prst="roundRect">
            <a:avLst>
              <a:gd name="adj" fmla="val 14352"/>
            </a:avLst>
          </a:prstGeom>
          <a:solidFill>
            <a:srgbClr val="FAD6DC"/>
          </a:solidFill>
          <a:ln/>
        </p:spPr>
      </p:sp>
      <p:sp>
        <p:nvSpPr>
          <p:cNvPr id="53" name="Text 50"/>
          <p:cNvSpPr/>
          <p:nvPr/>
        </p:nvSpPr>
        <p:spPr>
          <a:xfrm>
            <a:off x="5117100" y="2402217"/>
            <a:ext cx="1353902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MIGI盃 · 女子交流賽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518787" y="2402217"/>
            <a:ext cx="525633" cy="127426"/>
          </a:xfrm>
          <a:prstGeom prst="roundRect">
            <a:avLst>
              <a:gd name="adj" fmla="val 50232"/>
            </a:avLst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6518787" y="2402217"/>
            <a:ext cx="525633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官方戰績</a:t>
            </a:r>
            <a:endParaRPr lang="en-US" sz="500" dirty="0"/>
          </a:p>
        </p:txBody>
      </p:sp>
      <p:sp>
        <p:nvSpPr>
          <p:cNvPr id="56" name="Text 53"/>
          <p:cNvSpPr/>
          <p:nvPr/>
        </p:nvSpPr>
        <p:spPr>
          <a:xfrm>
            <a:off x="5117100" y="2593356"/>
            <a:ext cx="175210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6/21(六)14:00 · 旗艦店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5117100" y="2720782"/>
            <a:ext cx="175210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 300 點 · 冠軍限定牌尺</a:t>
            </a:r>
            <a:endParaRPr lang="en-US" sz="600" dirty="0"/>
          </a:p>
        </p:txBody>
      </p:sp>
      <p:sp>
        <p:nvSpPr>
          <p:cNvPr id="58" name="Text 55"/>
          <p:cNvSpPr/>
          <p:nvPr/>
        </p:nvSpPr>
        <p:spPr>
          <a:xfrm>
            <a:off x="5117100" y="2880065"/>
            <a:ext cx="477848" cy="9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名額</a:t>
            </a:r>
            <a:endParaRPr lang="en-US" sz="530" dirty="0"/>
          </a:p>
        </p:txBody>
      </p:sp>
      <p:sp>
        <p:nvSpPr>
          <p:cNvPr id="59" name="Text 56"/>
          <p:cNvSpPr/>
          <p:nvPr/>
        </p:nvSpPr>
        <p:spPr>
          <a:xfrm>
            <a:off x="6518787" y="2880065"/>
            <a:ext cx="525633" cy="9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 / 32</a:t>
            </a:r>
            <a:endParaRPr lang="en-US" sz="530" dirty="0"/>
          </a:p>
        </p:txBody>
      </p:sp>
      <p:sp>
        <p:nvSpPr>
          <p:cNvPr id="60" name="Shape 57"/>
          <p:cNvSpPr/>
          <p:nvPr/>
        </p:nvSpPr>
        <p:spPr>
          <a:xfrm>
            <a:off x="5117100" y="2991563"/>
            <a:ext cx="1927319" cy="47785"/>
          </a:xfrm>
          <a:prstGeom prst="roundRect">
            <a:avLst>
              <a:gd name="adj" fmla="val 57407"/>
            </a:avLst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5117100" y="2991563"/>
            <a:ext cx="1560969" cy="47785"/>
          </a:xfrm>
          <a:prstGeom prst="roundRect">
            <a:avLst>
              <a:gd name="adj" fmla="val 57407"/>
            </a:avLst>
          </a:prstGeom>
          <a:solidFill>
            <a:srgbClr val="C2607A"/>
          </a:solidFill>
          <a:ln/>
        </p:spPr>
      </p:sp>
      <p:sp>
        <p:nvSpPr>
          <p:cNvPr id="62" name="Shape 59"/>
          <p:cNvSpPr/>
          <p:nvPr/>
        </p:nvSpPr>
        <p:spPr>
          <a:xfrm>
            <a:off x="5005603" y="3294200"/>
            <a:ext cx="2150315" cy="254852"/>
          </a:xfrm>
          <a:prstGeom prst="roundRect">
            <a:avLst>
              <a:gd name="adj" fmla="val 50232"/>
            </a:avLst>
          </a:prstGeom>
          <a:solidFill>
            <a:srgbClr val="2E2B2C"/>
          </a:solidFill>
          <a:ln/>
        </p:spPr>
      </p:sp>
      <p:sp>
        <p:nvSpPr>
          <p:cNvPr id="63" name="Text 60"/>
          <p:cNvSpPr/>
          <p:nvPr/>
        </p:nvSpPr>
        <p:spPr>
          <a:xfrm>
            <a:off x="5005603" y="3294200"/>
            <a:ext cx="2150315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我要報名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5005603" y="3660550"/>
            <a:ext cx="2150315" cy="414135"/>
          </a:xfrm>
          <a:prstGeom prst="roundRect">
            <a:avLst>
              <a:gd name="adj" fmla="val 19872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01172" y="3724263"/>
            <a:ext cx="1752108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已報名 · 新手友善場 6/14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5101172" y="3867617"/>
            <a:ext cx="175210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只跟同段位配桌,放心打 ♡</a:t>
            </a:r>
            <a:endParaRPr lang="en-US" sz="550" dirty="0"/>
          </a:p>
        </p:txBody>
      </p:sp>
      <p:sp>
        <p:nvSpPr>
          <p:cNvPr id="67" name="Shape 64"/>
          <p:cNvSpPr/>
          <p:nvPr/>
        </p:nvSpPr>
        <p:spPr>
          <a:xfrm>
            <a:off x="7863840" y="1828800"/>
            <a:ext cx="2468880" cy="445991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8" name="Text 65"/>
          <p:cNvSpPr/>
          <p:nvPr/>
        </p:nvSpPr>
        <p:spPr>
          <a:xfrm>
            <a:off x="8023123" y="1892513"/>
            <a:ext cx="47784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600" dirty="0"/>
          </a:p>
        </p:txBody>
      </p:sp>
      <p:sp>
        <p:nvSpPr>
          <p:cNvPr id="69" name="Text 66"/>
          <p:cNvSpPr/>
          <p:nvPr/>
        </p:nvSpPr>
        <p:spPr>
          <a:xfrm>
            <a:off x="8023123" y="2035867"/>
            <a:ext cx="955695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9918585" y="2019939"/>
            <a:ext cx="238924" cy="23892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71" name="Text 68"/>
          <p:cNvSpPr/>
          <p:nvPr/>
        </p:nvSpPr>
        <p:spPr>
          <a:xfrm>
            <a:off x="9918585" y="2019939"/>
            <a:ext cx="238924" cy="23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600" dirty="0"/>
          </a:p>
        </p:txBody>
      </p:sp>
      <p:sp>
        <p:nvSpPr>
          <p:cNvPr id="72" name="Shape 69"/>
          <p:cNvSpPr/>
          <p:nvPr/>
        </p:nvSpPr>
        <p:spPr>
          <a:xfrm>
            <a:off x="7879768" y="5954219"/>
            <a:ext cx="2437023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983302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錢包</a:t>
            </a:r>
            <a:endParaRPr lang="en-US" sz="650" dirty="0"/>
          </a:p>
        </p:txBody>
      </p:sp>
      <p:sp>
        <p:nvSpPr>
          <p:cNvPr id="74" name="Text 71"/>
          <p:cNvSpPr/>
          <p:nvPr/>
        </p:nvSpPr>
        <p:spPr>
          <a:xfrm>
            <a:off x="8548755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</a:t>
            </a:r>
            <a:endParaRPr lang="en-US" sz="650" dirty="0"/>
          </a:p>
        </p:txBody>
      </p:sp>
      <p:sp>
        <p:nvSpPr>
          <p:cNvPr id="75" name="Text 72"/>
          <p:cNvSpPr/>
          <p:nvPr/>
        </p:nvSpPr>
        <p:spPr>
          <a:xfrm>
            <a:off x="9114208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成績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9679661" y="6017932"/>
            <a:ext cx="509704" cy="191139"/>
          </a:xfrm>
          <a:prstGeom prst="roundRect">
            <a:avLst>
              <a:gd name="adj" fmla="val 43056"/>
            </a:avLst>
          </a:prstGeom>
          <a:solidFill>
            <a:srgbClr val="FAD6DC"/>
          </a:solidFill>
          <a:ln/>
        </p:spPr>
      </p:sp>
      <p:sp>
        <p:nvSpPr>
          <p:cNvPr id="77" name="Text 74"/>
          <p:cNvSpPr/>
          <p:nvPr/>
        </p:nvSpPr>
        <p:spPr>
          <a:xfrm>
            <a:off x="9679661" y="6017932"/>
            <a:ext cx="509704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商城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8023123" y="2290719"/>
            <a:ext cx="955695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商城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023123" y="2450002"/>
            <a:ext cx="2150315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限定品依段位解鎖 · 打得越好,買得到的越稀有</a:t>
            </a:r>
            <a:endParaRPr lang="en-US" sz="530" dirty="0"/>
          </a:p>
        </p:txBody>
      </p:sp>
      <p:sp>
        <p:nvSpPr>
          <p:cNvPr id="80" name="Shape 77"/>
          <p:cNvSpPr/>
          <p:nvPr/>
        </p:nvSpPr>
        <p:spPr>
          <a:xfrm>
            <a:off x="8023123" y="2609285"/>
            <a:ext cx="1043301" cy="1210548"/>
          </a:xfrm>
          <a:prstGeom prst="roundRect">
            <a:avLst>
              <a:gd name="adj" fmla="val 7888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039051" y="2625213"/>
            <a:ext cx="1011444" cy="684915"/>
          </a:xfrm>
          <a:prstGeom prst="roundRect">
            <a:avLst>
              <a:gd name="adj" fmla="val 10680"/>
            </a:avLst>
          </a:prstGeom>
          <a:solidFill>
            <a:srgbClr val="FAD6DC"/>
          </a:solidFill>
          <a:ln/>
        </p:spPr>
      </p:sp>
      <p:sp>
        <p:nvSpPr>
          <p:cNvPr id="82" name="Shape 79"/>
          <p:cNvSpPr/>
          <p:nvPr/>
        </p:nvSpPr>
        <p:spPr>
          <a:xfrm rot="-1080000">
            <a:off x="8182405" y="2911922"/>
            <a:ext cx="732700" cy="95570"/>
          </a:xfrm>
          <a:prstGeom prst="roundRect">
            <a:avLst>
              <a:gd name="adj" fmla="val 57407"/>
            </a:avLst>
          </a:prstGeom>
          <a:solidFill>
            <a:srgbClr val="FFFFFF"/>
          </a:solidFill>
          <a:ln/>
        </p:spPr>
      </p:sp>
      <p:sp>
        <p:nvSpPr>
          <p:cNvPr id="83" name="Text 80"/>
          <p:cNvSpPr/>
          <p:nvPr/>
        </p:nvSpPr>
        <p:spPr>
          <a:xfrm>
            <a:off x="8102764" y="3357913"/>
            <a:ext cx="915875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小熊牌尺 · 經典款</a:t>
            </a:r>
            <a:endParaRPr lang="en-US" sz="560" dirty="0"/>
          </a:p>
        </p:txBody>
      </p:sp>
      <p:sp>
        <p:nvSpPr>
          <p:cNvPr id="84" name="Text 81"/>
          <p:cNvSpPr/>
          <p:nvPr/>
        </p:nvSpPr>
        <p:spPr>
          <a:xfrm>
            <a:off x="8102764" y="3485339"/>
            <a:ext cx="915875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980 點</a:t>
            </a:r>
            <a:endParaRPr lang="en-US" sz="560" dirty="0"/>
          </a:p>
        </p:txBody>
      </p:sp>
      <p:sp>
        <p:nvSpPr>
          <p:cNvPr id="85" name="Shape 82"/>
          <p:cNvSpPr/>
          <p:nvPr/>
        </p:nvSpPr>
        <p:spPr>
          <a:xfrm>
            <a:off x="9130137" y="2609285"/>
            <a:ext cx="1043301" cy="1210548"/>
          </a:xfrm>
          <a:prstGeom prst="roundRect">
            <a:avLst>
              <a:gd name="adj" fmla="val 7888"/>
            </a:avLst>
          </a:prstGeom>
          <a:solidFill>
            <a:srgbClr val="FFFFFF"/>
          </a:solidFill>
          <a:ln w="15875">
            <a:solidFill>
              <a:srgbClr val="C2607A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9146065" y="2625213"/>
            <a:ext cx="1011444" cy="684915"/>
          </a:xfrm>
          <a:prstGeom prst="roundRect">
            <a:avLst>
              <a:gd name="adj" fmla="val 10680"/>
            </a:avLst>
          </a:prstGeom>
          <a:solidFill>
            <a:srgbClr val="DBC3B5"/>
          </a:solidFill>
          <a:ln/>
        </p:spPr>
      </p:sp>
      <p:sp>
        <p:nvSpPr>
          <p:cNvPr id="87" name="Shape 84"/>
          <p:cNvSpPr/>
          <p:nvPr/>
        </p:nvSpPr>
        <p:spPr>
          <a:xfrm rot="-1080000">
            <a:off x="9289419" y="2911922"/>
            <a:ext cx="732700" cy="95570"/>
          </a:xfrm>
          <a:prstGeom prst="roundRect">
            <a:avLst>
              <a:gd name="adj" fmla="val 57407"/>
            </a:avLst>
          </a:prstGeom>
          <a:solidFill>
            <a:srgbClr val="2E2B2C"/>
          </a:solidFill>
          <a:ln/>
        </p:spPr>
      </p:sp>
      <p:sp>
        <p:nvSpPr>
          <p:cNvPr id="88" name="Text 85"/>
          <p:cNvSpPr/>
          <p:nvPr/>
        </p:nvSpPr>
        <p:spPr>
          <a:xfrm rot="-1080000">
            <a:off x="9400917" y="2895993"/>
            <a:ext cx="509704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No.001</a:t>
            </a:r>
            <a:endParaRPr lang="en-US" sz="450" dirty="0"/>
          </a:p>
        </p:txBody>
      </p:sp>
      <p:sp>
        <p:nvSpPr>
          <p:cNvPr id="89" name="Shape 86"/>
          <p:cNvSpPr/>
          <p:nvPr/>
        </p:nvSpPr>
        <p:spPr>
          <a:xfrm>
            <a:off x="9655769" y="2672998"/>
            <a:ext cx="461919" cy="119462"/>
          </a:xfrm>
          <a:prstGeom prst="roundRect">
            <a:avLst>
              <a:gd name="adj" fmla="val 53580"/>
            </a:avLst>
          </a:prstGeom>
          <a:solidFill>
            <a:srgbClr val="FFFFFF"/>
          </a:solidFill>
          <a:ln/>
        </p:spPr>
      </p:sp>
      <p:sp>
        <p:nvSpPr>
          <p:cNvPr id="90" name="Text 87"/>
          <p:cNvSpPr/>
          <p:nvPr/>
        </p:nvSpPr>
        <p:spPr>
          <a:xfrm>
            <a:off x="9655769" y="2672998"/>
            <a:ext cx="461919" cy="11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四段解鎖</a:t>
            </a:r>
            <a:endParaRPr lang="en-US" sz="460" dirty="0"/>
          </a:p>
        </p:txBody>
      </p:sp>
      <p:sp>
        <p:nvSpPr>
          <p:cNvPr id="91" name="Text 88"/>
          <p:cNvSpPr/>
          <p:nvPr/>
        </p:nvSpPr>
        <p:spPr>
          <a:xfrm>
            <a:off x="9209778" y="3357913"/>
            <a:ext cx="915875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冠軍同款 · 限量編號</a:t>
            </a:r>
            <a:endParaRPr lang="en-US" sz="560" dirty="0"/>
          </a:p>
        </p:txBody>
      </p:sp>
      <p:sp>
        <p:nvSpPr>
          <p:cNvPr id="92" name="Text 89"/>
          <p:cNvSpPr/>
          <p:nvPr/>
        </p:nvSpPr>
        <p:spPr>
          <a:xfrm>
            <a:off x="9209778" y="3485339"/>
            <a:ext cx="915875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2,800 點</a:t>
            </a:r>
            <a:endParaRPr lang="en-US" sz="560" dirty="0"/>
          </a:p>
        </p:txBody>
      </p:sp>
      <p:sp>
        <p:nvSpPr>
          <p:cNvPr id="93" name="Shape 90"/>
          <p:cNvSpPr/>
          <p:nvPr/>
        </p:nvSpPr>
        <p:spPr>
          <a:xfrm>
            <a:off x="8023123" y="3899474"/>
            <a:ext cx="1043301" cy="1210548"/>
          </a:xfrm>
          <a:prstGeom prst="roundRect">
            <a:avLst>
              <a:gd name="adj" fmla="val 7888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039051" y="3915402"/>
            <a:ext cx="1011444" cy="684915"/>
          </a:xfrm>
          <a:prstGeom prst="roundRect">
            <a:avLst>
              <a:gd name="adj" fmla="val 10680"/>
            </a:avLst>
          </a:prstGeom>
          <a:solidFill>
            <a:srgbClr val="FFE7EE"/>
          </a:solidFill>
          <a:ln/>
        </p:spPr>
      </p:sp>
      <p:sp>
        <p:nvSpPr>
          <p:cNvPr id="95" name="Shape 92"/>
          <p:cNvSpPr/>
          <p:nvPr/>
        </p:nvSpPr>
        <p:spPr>
          <a:xfrm>
            <a:off x="8341688" y="4106541"/>
            <a:ext cx="414135" cy="318565"/>
          </a:xfrm>
          <a:prstGeom prst="roundRect">
            <a:avLst>
              <a:gd name="adj" fmla="val 14352"/>
            </a:avLst>
          </a:prstGeom>
          <a:solidFill>
            <a:srgbClr val="FFFFFF"/>
          </a:solidFill>
          <a:ln/>
        </p:spPr>
      </p:sp>
      <p:sp>
        <p:nvSpPr>
          <p:cNvPr id="96" name="Shape 93"/>
          <p:cNvSpPr/>
          <p:nvPr/>
        </p:nvSpPr>
        <p:spPr>
          <a:xfrm>
            <a:off x="8485042" y="4218039"/>
            <a:ext cx="111498" cy="95570"/>
          </a:xfrm>
          <a:prstGeom prst="roundRect">
            <a:avLst>
              <a:gd name="adj" fmla="val 38271"/>
            </a:avLst>
          </a:prstGeom>
          <a:solidFill>
            <a:srgbClr val="F0A8B8"/>
          </a:solidFill>
          <a:ln/>
        </p:spPr>
      </p:sp>
      <p:sp>
        <p:nvSpPr>
          <p:cNvPr id="97" name="Text 94"/>
          <p:cNvSpPr/>
          <p:nvPr/>
        </p:nvSpPr>
        <p:spPr>
          <a:xfrm>
            <a:off x="8102764" y="4648102"/>
            <a:ext cx="915875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Girls Play Tee</a:t>
            </a:r>
            <a:endParaRPr lang="en-US" sz="560" dirty="0"/>
          </a:p>
        </p:txBody>
      </p:sp>
      <p:sp>
        <p:nvSpPr>
          <p:cNvPr id="98" name="Text 95"/>
          <p:cNvSpPr/>
          <p:nvPr/>
        </p:nvSpPr>
        <p:spPr>
          <a:xfrm>
            <a:off x="8102764" y="4775528"/>
            <a:ext cx="915875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680 點</a:t>
            </a:r>
            <a:endParaRPr lang="en-US" sz="560" dirty="0"/>
          </a:p>
        </p:txBody>
      </p:sp>
      <p:sp>
        <p:nvSpPr>
          <p:cNvPr id="99" name="Shape 96"/>
          <p:cNvSpPr/>
          <p:nvPr/>
        </p:nvSpPr>
        <p:spPr>
          <a:xfrm>
            <a:off x="9130137" y="3899474"/>
            <a:ext cx="1043301" cy="1210548"/>
          </a:xfrm>
          <a:prstGeom prst="roundRect">
            <a:avLst>
              <a:gd name="adj" fmla="val 7888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9146065" y="3915402"/>
            <a:ext cx="1011444" cy="684915"/>
          </a:xfrm>
          <a:prstGeom prst="roundRect">
            <a:avLst>
              <a:gd name="adj" fmla="val 10680"/>
            </a:avLst>
          </a:prstGeom>
          <a:solidFill>
            <a:srgbClr val="F0EFEE"/>
          </a:solidFill>
          <a:ln/>
        </p:spPr>
      </p:sp>
      <p:sp>
        <p:nvSpPr>
          <p:cNvPr id="101" name="Shape 98"/>
          <p:cNvSpPr/>
          <p:nvPr/>
        </p:nvSpPr>
        <p:spPr>
          <a:xfrm>
            <a:off x="9464630" y="4122469"/>
            <a:ext cx="382278" cy="286709"/>
          </a:xfrm>
          <a:prstGeom prst="roundRect">
            <a:avLst>
              <a:gd name="adj" fmla="val 12757"/>
            </a:avLst>
          </a:prstGeom>
          <a:solidFill>
            <a:srgbClr val="FAD6DC"/>
          </a:solidFill>
          <a:ln/>
        </p:spPr>
      </p:sp>
      <p:sp>
        <p:nvSpPr>
          <p:cNvPr id="102" name="Shape 99"/>
          <p:cNvSpPr/>
          <p:nvPr/>
        </p:nvSpPr>
        <p:spPr>
          <a:xfrm>
            <a:off x="9623913" y="4122469"/>
            <a:ext cx="63713" cy="2867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Shape 100"/>
          <p:cNvSpPr/>
          <p:nvPr/>
        </p:nvSpPr>
        <p:spPr>
          <a:xfrm>
            <a:off x="9464630" y="4233967"/>
            <a:ext cx="382278" cy="637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/>
          <p:nvPr/>
        </p:nvSpPr>
        <p:spPr>
          <a:xfrm>
            <a:off x="9209778" y="4648102"/>
            <a:ext cx="915875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閨蜜禮盒</a:t>
            </a:r>
            <a:endParaRPr lang="en-US" sz="560" dirty="0"/>
          </a:p>
        </p:txBody>
      </p:sp>
      <p:sp>
        <p:nvSpPr>
          <p:cNvPr id="105" name="Text 102"/>
          <p:cNvSpPr/>
          <p:nvPr/>
        </p:nvSpPr>
        <p:spPr>
          <a:xfrm>
            <a:off x="9209778" y="4775528"/>
            <a:ext cx="915875" cy="10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1,280 點</a:t>
            </a:r>
            <a:endParaRPr lang="en-US" sz="560" dirty="0"/>
          </a:p>
        </p:txBody>
      </p:sp>
      <p:sp>
        <p:nvSpPr>
          <p:cNvPr id="106" name="Text 103"/>
          <p:cNvSpPr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桌邊 QR 點餐(底部結帳列)· 賽事官方戰績與名額 · 商城滿版商品圖與段位解鎖限定品。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介面設計 · MIGI CIS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員工後台 — 桌台看板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194560" y="1874520"/>
            <a:ext cx="7772400" cy="40690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5146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桌台看板 · MIGI 旗艦店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0" y="210312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佔用 4/6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14600" y="269748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AD6DC"/>
          </a:solidFill>
          <a:ln w="12700">
            <a:solidFill>
              <a:srgbClr val="FAD6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79192" y="28254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703320" y="2843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使用中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79192" y="3410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01:32 · 4 人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83480" y="269748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AD6DC"/>
          </a:solidFill>
          <a:ln w="12700">
            <a:solidFill>
              <a:srgbClr val="FAD6D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48072" y="28254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72200" y="2843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使用中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148072" y="3410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00:48 · 4 人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52360" y="269748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6C3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16952" y="28254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41080" y="2843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空桌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616952" y="34107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候補 3 組可派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514600" y="416052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DBC3B5"/>
          </a:solidFill>
          <a:ln w="12700">
            <a:solidFill>
              <a:srgbClr val="DBC3B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79192" y="42885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703320" y="4306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已預約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679192" y="4873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19:30 · 小美 4 人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983480" y="416052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FAD6DC"/>
          </a:solidFill>
          <a:ln w="12700">
            <a:solidFill>
              <a:srgbClr val="FAD6D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8072" y="42885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172200" y="4306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使用中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148072" y="4873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02:15 · 3 人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52360" y="416052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16952" y="42885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641080" y="43068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清潔中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616952" y="4873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 分後可用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蜜桃粉=使用中 · 白=空桌 · 奶茶=已預約 · 灰=清潔中(深色文字,長時間操作不疲勞)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介面設計 · MIGI CIS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每手記錄 — 俯視鏡頭 + AI 即時擷取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3291840" cy="365760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03911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203911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03911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俯視鏡頭 · T3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201168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2011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914400" y="2249424"/>
            <a:ext cx="329184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2560320"/>
            <a:ext cx="2194560" cy="2286000"/>
          </a:xfrm>
          <a:prstGeom prst="roundRect">
            <a:avLst>
              <a:gd name="adj" fmla="val 8333"/>
            </a:avLst>
          </a:prstGeom>
          <a:solidFill>
            <a:srgbClr val="E9F0EA"/>
          </a:solidFill>
          <a:ln w="12700">
            <a:solidFill>
              <a:srgbClr val="BFD6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480000">
            <a:off x="2331720" y="338328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9C7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-720000">
            <a:off x="2514600" y="329184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9C7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200000">
            <a:off x="2240280" y="361188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9C7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300000">
            <a:off x="2560320" y="35661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9C7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1500000">
            <a:off x="2395728" y="3493008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9C7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900000">
            <a:off x="2651760" y="3401568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C9C7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26517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7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66160" y="3474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7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95728" y="43891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7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西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0200" y="3474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7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42032" y="3547872"/>
            <a:ext cx="310896" cy="384048"/>
          </a:xfrm>
          <a:prstGeom prst="roundRect">
            <a:avLst>
              <a:gd name="adj" fmla="val 11765"/>
            </a:avLst>
          </a:prstGeom>
          <a:solidFill>
            <a:srgbClr val="FAD6DC"/>
          </a:solidFill>
          <a:ln w="19050">
            <a:solidFill>
              <a:srgbClr val="C26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42032" y="3547872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5筒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097280" y="4983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牌落地瞬間 = 最後一次完整可見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97280" y="51663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軌跡定哪家 · 牌面分類 · 時序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25196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17720" y="1920240"/>
            <a:ext cx="3108960" cy="365760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27448" y="203911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31" name="Shape 29"/>
          <p:cNvSpPr/>
          <p:nvPr/>
        </p:nvSpPr>
        <p:spPr>
          <a:xfrm>
            <a:off x="4837176" y="203911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32" name="Shape 30"/>
          <p:cNvSpPr/>
          <p:nvPr/>
        </p:nvSpPr>
        <p:spPr>
          <a:xfrm>
            <a:off x="4946904" y="203911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33" name="Text 31"/>
          <p:cNvSpPr/>
          <p:nvPr/>
        </p:nvSpPr>
        <p:spPr>
          <a:xfrm>
            <a:off x="5093208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每手事件流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249424"/>
            <a:ext cx="310896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2423160"/>
            <a:ext cx="2779776" cy="438912"/>
          </a:xfrm>
          <a:prstGeom prst="roundRect">
            <a:avLst>
              <a:gd name="adj" fmla="val 12500"/>
            </a:avLst>
          </a:prstGeom>
          <a:solidFill>
            <a:srgbClr val="F8F7F6"/>
          </a:solidFill>
          <a:ln w="6350">
            <a:solidFill>
              <a:srgbClr val="EFED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4231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30952" y="24231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 美美 摸牌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13448" y="24231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782312" y="2953512"/>
            <a:ext cx="2779776" cy="438912"/>
          </a:xfrm>
          <a:prstGeom prst="roundRect">
            <a:avLst>
              <a:gd name="adj" fmla="val 12500"/>
            </a:avLst>
          </a:prstGeom>
          <a:solidFill>
            <a:srgbClr val="F8F7F6"/>
          </a:solidFill>
          <a:ln w="6350">
            <a:solidFill>
              <a:srgbClr val="EFED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9535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30952" y="295351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 美美 打7筒→東碰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013448" y="295351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0.95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782312" y="3483864"/>
            <a:ext cx="2779776" cy="438912"/>
          </a:xfrm>
          <a:prstGeom prst="roundRect">
            <a:avLst>
              <a:gd name="adj" fmla="val 12500"/>
            </a:avLst>
          </a:prstGeom>
          <a:solidFill>
            <a:srgbClr val="F8F7F6"/>
          </a:solidFill>
          <a:ln w="6350">
            <a:solidFill>
              <a:srgbClr val="EFED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4838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330952" y="34838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西 小美 打5筒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13448" y="348386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0.97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82312" y="4014216"/>
            <a:ext cx="2779776" cy="438912"/>
          </a:xfrm>
          <a:prstGeom prst="roundRect">
            <a:avLst>
              <a:gd name="adj" fmla="val 12500"/>
            </a:avLst>
          </a:prstGeom>
          <a:solidFill>
            <a:srgbClr val="FFF7F9"/>
          </a:solidFill>
          <a:ln w="6350">
            <a:solidFill>
              <a:srgbClr val="F0CDD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01421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30952" y="401421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 阿芳 打2萬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13448" y="401421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0.71 ⚑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782312" y="4544568"/>
            <a:ext cx="2779776" cy="438912"/>
          </a:xfrm>
          <a:prstGeom prst="roundRect">
            <a:avLst>
              <a:gd name="adj" fmla="val 12500"/>
            </a:avLst>
          </a:prstGeom>
          <a:solidFill>
            <a:srgbClr val="F8F7F6"/>
          </a:solidFill>
          <a:ln w="6350">
            <a:solidFill>
              <a:srgbClr val="EFED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5445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30952" y="45445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 小婷 摸牌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013448" y="45445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0.99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782312" y="512064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每事件帶來源與信心值;低信心自動標 ⚑ 待抽查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77240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138160" y="1920240"/>
            <a:ext cx="3200400" cy="36576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247888" y="203911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59" name="Shape 57"/>
          <p:cNvSpPr/>
          <p:nvPr/>
        </p:nvSpPr>
        <p:spPr>
          <a:xfrm>
            <a:off x="8357616" y="203911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60" name="Shape 58"/>
          <p:cNvSpPr/>
          <p:nvPr/>
        </p:nvSpPr>
        <p:spPr>
          <a:xfrm>
            <a:off x="8467344" y="203911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61" name="Text 59"/>
          <p:cNvSpPr/>
          <p:nvPr/>
        </p:nvSpPr>
        <p:spPr>
          <a:xfrm>
            <a:off x="8613648" y="1993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牌譜自動生成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287000" y="201168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2011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138160" y="2249424"/>
            <a:ext cx="320040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02752" y="237744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將 南風圈 · 第 23/68 手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302752" y="2697480"/>
            <a:ext cx="2871216" cy="384048"/>
          </a:xfrm>
          <a:prstGeom prst="roundRect">
            <a:avLst>
              <a:gd name="adj" fmla="val 11905"/>
            </a:avLst>
          </a:prstGeom>
          <a:solidFill>
            <a:srgbClr val="F8F7F6"/>
          </a:solidFill>
          <a:ln/>
        </p:spPr>
      </p:sp>
      <p:sp>
        <p:nvSpPr>
          <p:cNvPr id="67" name="Text 65"/>
          <p:cNvSpPr/>
          <p:nvPr/>
        </p:nvSpPr>
        <p:spPr>
          <a:xfrm>
            <a:off x="8412480" y="26974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 小婷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281160" y="26974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1萬 東 9索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302752" y="3154680"/>
            <a:ext cx="2871216" cy="384048"/>
          </a:xfrm>
          <a:prstGeom prst="roundRect">
            <a:avLst>
              <a:gd name="adj" fmla="val 11905"/>
            </a:avLst>
          </a:prstGeom>
          <a:solidFill>
            <a:srgbClr val="F8F7F6"/>
          </a:solidFill>
          <a:ln/>
        </p:spPr>
      </p:sp>
      <p:sp>
        <p:nvSpPr>
          <p:cNvPr id="70" name="Text 68"/>
          <p:cNvSpPr/>
          <p:nvPr/>
        </p:nvSpPr>
        <p:spPr>
          <a:xfrm>
            <a:off x="8412480" y="3154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 美美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281160" y="3154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 2索 白 7筒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302752" y="3611880"/>
            <a:ext cx="2871216" cy="384048"/>
          </a:xfrm>
          <a:prstGeom prst="roundRect">
            <a:avLst>
              <a:gd name="adj" fmla="val 11905"/>
            </a:avLst>
          </a:prstGeom>
          <a:solidFill>
            <a:srgbClr val="F8F7F6"/>
          </a:solidFill>
          <a:ln/>
        </p:spPr>
      </p:sp>
      <p:sp>
        <p:nvSpPr>
          <p:cNvPr id="73" name="Text 71"/>
          <p:cNvSpPr/>
          <p:nvPr/>
        </p:nvSpPr>
        <p:spPr>
          <a:xfrm>
            <a:off x="8412480" y="36118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西 小美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281160" y="3611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9萬 西 4索 5筒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302752" y="4069080"/>
            <a:ext cx="2871216" cy="384048"/>
          </a:xfrm>
          <a:prstGeom prst="roundRect">
            <a:avLst>
              <a:gd name="adj" fmla="val 11905"/>
            </a:avLst>
          </a:prstGeom>
          <a:solidFill>
            <a:srgbClr val="F8F7F6"/>
          </a:solidFill>
          <a:ln/>
        </p:spPr>
      </p:sp>
      <p:sp>
        <p:nvSpPr>
          <p:cNvPr id="76" name="Text 74"/>
          <p:cNvSpPr/>
          <p:nvPr/>
        </p:nvSpPr>
        <p:spPr>
          <a:xfrm>
            <a:off x="8412480" y="40690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 阿芳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928116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 3萬 6索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302752" y="4617720"/>
            <a:ext cx="2871216" cy="457200"/>
          </a:xfrm>
          <a:prstGeom prst="roundRect">
            <a:avLst>
              <a:gd name="adj" fmla="val 14000"/>
            </a:avLst>
          </a:prstGeom>
          <a:solidFill>
            <a:srgbClr val="FFF7F9"/>
          </a:solidFill>
          <a:ln w="6350">
            <a:solidFill>
              <a:srgbClr val="F0CDD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4124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逐手回放 · 放槍分析 · 台數效率 · AI 教練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302752" y="516636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店員只在 ⚑ 低信心時校正(備援)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每一手皆記錄(圍棋棋譜等級)— 靠俯視鏡頭 AI,非人工;混堆即時擷取,牌落地瞬間收走資訊。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介面設計 · MIGI CIS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營運後台 — POS · CRM · ERP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383280" cy="38404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9339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9339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9339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1947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 · 結帳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2203704"/>
            <a:ext cx="338328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 桌 · 收桌結帳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55117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開桌 14:20 · 2 小時 30 分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桌時費 2.5h × 300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31455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經典奶茶 ×2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08960" y="3145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會員折抵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3456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5840" y="3813048"/>
            <a:ext cx="3017520" cy="0"/>
          </a:xfrm>
          <a:prstGeom prst="line">
            <a:avLst/>
          </a:prstGeom>
          <a:noFill/>
          <a:ln w="9525">
            <a:solidFill>
              <a:srgbClr val="E0DE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應扣點數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860 點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4343400"/>
            <a:ext cx="3017520" cy="548640"/>
          </a:xfrm>
          <a:prstGeom prst="roundRect">
            <a:avLst>
              <a:gd name="adj" fmla="val 11667"/>
            </a:avLst>
          </a:prstGeom>
          <a:solidFill>
            <a:srgbClr val="F0EFEE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小婷 · 金牌熊II · 餘額 12,800 → 11,940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05840" y="502920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2E2B2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029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扣點結帳 · 860 點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1874520"/>
            <a:ext cx="3383280" cy="38404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98848" y="199339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28" name="Shape 26"/>
          <p:cNvSpPr/>
          <p:nvPr/>
        </p:nvSpPr>
        <p:spPr>
          <a:xfrm>
            <a:off x="4608576" y="199339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18304" y="199339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1947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· 會員 360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89120" y="2203704"/>
            <a:ext cx="338328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331720"/>
            <a:ext cx="502920" cy="502920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3500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小婷  #M-02841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25694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焦糖布丁 · 金牌熊II · LINE 已綁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0" y="2971800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F0EFE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0" y="29718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夜貓場常客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623560" y="2971800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F0EFEE"/>
          </a:solidFill>
          <a:ln/>
        </p:spPr>
      </p:sp>
      <p:sp>
        <p:nvSpPr>
          <p:cNvPr id="39" name="Text 37"/>
          <p:cNvSpPr/>
          <p:nvPr/>
        </p:nvSpPr>
        <p:spPr>
          <a:xfrm>
            <a:off x="5623560" y="29718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固定咖A團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675120" y="2971800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DBC3B5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9718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奶茶控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335584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8F7F6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4290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本月來店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63440" y="35935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次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199632" y="335584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8F7F6"/>
          </a:solidFill>
          <a:ln/>
        </p:spPr>
      </p:sp>
      <p:sp>
        <p:nvSpPr>
          <p:cNvPr id="46" name="Text 44"/>
          <p:cNvSpPr/>
          <p:nvPr/>
        </p:nvSpPr>
        <p:spPr>
          <a:xfrm>
            <a:off x="6291072" y="34290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本月消費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91072" y="35935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4,210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572000" y="410565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8F7F6"/>
          </a:solidFill>
          <a:ln/>
        </p:spPr>
      </p:sp>
      <p:sp>
        <p:nvSpPr>
          <p:cNvPr id="49" name="Text 47"/>
          <p:cNvSpPr/>
          <p:nvPr/>
        </p:nvSpPr>
        <p:spPr>
          <a:xfrm>
            <a:off x="4663440" y="4178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上次來店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663440" y="4343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6/10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199632" y="4105656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8F7F6"/>
          </a:solidFill>
          <a:ln/>
        </p:spPr>
      </p:sp>
      <p:sp>
        <p:nvSpPr>
          <p:cNvPr id="52" name="Text 50"/>
          <p:cNvSpPr/>
          <p:nvPr/>
        </p:nvSpPr>
        <p:spPr>
          <a:xfrm>
            <a:off x="6291072" y="41788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回流風險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91072" y="4343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4572000" y="4892040"/>
            <a:ext cx="30175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4892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配桌迴避:已設 2 位 · 僅本人可見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955280" y="1874520"/>
            <a:ext cx="3474720" cy="384048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065008" y="199339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58" name="Shape 56"/>
          <p:cNvSpPr/>
          <p:nvPr/>
        </p:nvSpPr>
        <p:spPr>
          <a:xfrm>
            <a:off x="8174736" y="199339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59" name="Shape 57"/>
          <p:cNvSpPr/>
          <p:nvPr/>
        </p:nvSpPr>
        <p:spPr>
          <a:xfrm>
            <a:off x="8284464" y="199339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60" name="Text 58"/>
          <p:cNvSpPr/>
          <p:nvPr/>
        </p:nvSpPr>
        <p:spPr>
          <a:xfrm>
            <a:off x="8430768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ERP · 營運總覽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378440" y="196596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62" name="Text 60"/>
          <p:cNvSpPr/>
          <p:nvPr/>
        </p:nvSpPr>
        <p:spPr>
          <a:xfrm>
            <a:off x="1037844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6/11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955280" y="2203704"/>
            <a:ext cx="347472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38160" y="233172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AD6DC"/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今日營收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229600" y="2569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28,400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9802368" y="233172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8F7F6"/>
          </a:solidFill>
          <a:ln/>
        </p:spPr>
      </p:sp>
      <p:sp>
        <p:nvSpPr>
          <p:cNvPr id="68" name="Text 66"/>
          <p:cNvSpPr/>
          <p:nvPr/>
        </p:nvSpPr>
        <p:spPr>
          <a:xfrm>
            <a:off x="9893808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佔用率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893808" y="2569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62%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8138160" y="3081528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8F7F6"/>
          </a:solidFill>
          <a:ln/>
        </p:spPr>
      </p:sp>
      <p:sp>
        <p:nvSpPr>
          <p:cNvPr id="71" name="Text 69"/>
          <p:cNvSpPr/>
          <p:nvPr/>
        </p:nvSpPr>
        <p:spPr>
          <a:xfrm>
            <a:off x="8229600" y="31546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餐飲毛利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229600" y="3319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38%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9802368" y="3081528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8F7F6"/>
          </a:solidFill>
          <a:ln/>
        </p:spPr>
      </p:sp>
      <p:sp>
        <p:nvSpPr>
          <p:cNvPr id="74" name="Text 72"/>
          <p:cNvSpPr/>
          <p:nvPr/>
        </p:nvSpPr>
        <p:spPr>
          <a:xfrm>
            <a:off x="9893808" y="31546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回流率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93808" y="33192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41%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8138160" y="3886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本週營收(點)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183880" y="4332427"/>
            <a:ext cx="347472" cy="559613"/>
          </a:xfrm>
          <a:prstGeom prst="roundRect">
            <a:avLst>
              <a:gd name="adj" fmla="val 7895"/>
            </a:avLst>
          </a:prstGeom>
          <a:solidFill>
            <a:srgbClr val="F0D9DF"/>
          </a:solidFill>
          <a:ln/>
        </p:spPr>
      </p:sp>
      <p:sp>
        <p:nvSpPr>
          <p:cNvPr id="78" name="Text 76"/>
          <p:cNvSpPr/>
          <p:nvPr/>
        </p:nvSpPr>
        <p:spPr>
          <a:xfrm>
            <a:off x="8156448" y="49103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8631936" y="4036162"/>
            <a:ext cx="347472" cy="855878"/>
          </a:xfrm>
          <a:prstGeom prst="roundRect">
            <a:avLst>
              <a:gd name="adj" fmla="val 7895"/>
            </a:avLst>
          </a:prstGeom>
          <a:solidFill>
            <a:srgbClr val="F0D9DF"/>
          </a:solidFill>
          <a:ln/>
        </p:spPr>
      </p:sp>
      <p:sp>
        <p:nvSpPr>
          <p:cNvPr id="80" name="Text 78"/>
          <p:cNvSpPr/>
          <p:nvPr/>
        </p:nvSpPr>
        <p:spPr>
          <a:xfrm>
            <a:off x="8604504" y="49103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9079992" y="3937406"/>
            <a:ext cx="347472" cy="954634"/>
          </a:xfrm>
          <a:prstGeom prst="roundRect">
            <a:avLst>
              <a:gd name="adj" fmla="val 7895"/>
            </a:avLst>
          </a:prstGeom>
          <a:solidFill>
            <a:srgbClr val="F0D9DF"/>
          </a:solidFill>
          <a:ln/>
        </p:spPr>
      </p:sp>
      <p:sp>
        <p:nvSpPr>
          <p:cNvPr id="82" name="Text 80"/>
          <p:cNvSpPr/>
          <p:nvPr/>
        </p:nvSpPr>
        <p:spPr>
          <a:xfrm>
            <a:off x="9052560" y="49103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9528048" y="4464101"/>
            <a:ext cx="347472" cy="427939"/>
          </a:xfrm>
          <a:prstGeom prst="roundRect">
            <a:avLst>
              <a:gd name="adj" fmla="val 7895"/>
            </a:avLst>
          </a:prstGeom>
          <a:solidFill>
            <a:srgbClr val="F0D9DF"/>
          </a:solidFill>
          <a:ln/>
        </p:spPr>
      </p:sp>
      <p:sp>
        <p:nvSpPr>
          <p:cNvPr id="84" name="Text 82"/>
          <p:cNvSpPr/>
          <p:nvPr/>
        </p:nvSpPr>
        <p:spPr>
          <a:xfrm>
            <a:off x="9500616" y="49103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9976104" y="4398264"/>
            <a:ext cx="347472" cy="493776"/>
          </a:xfrm>
          <a:prstGeom prst="roundRect">
            <a:avLst>
              <a:gd name="adj" fmla="val 7895"/>
            </a:avLst>
          </a:prstGeom>
          <a:solidFill>
            <a:srgbClr val="F0D9DF"/>
          </a:solidFill>
          <a:ln/>
        </p:spPr>
      </p:sp>
      <p:sp>
        <p:nvSpPr>
          <p:cNvPr id="86" name="Text 84"/>
          <p:cNvSpPr/>
          <p:nvPr/>
        </p:nvSpPr>
        <p:spPr>
          <a:xfrm>
            <a:off x="9948672" y="49103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10424160" y="4266590"/>
            <a:ext cx="347472" cy="625450"/>
          </a:xfrm>
          <a:prstGeom prst="roundRect">
            <a:avLst>
              <a:gd name="adj" fmla="val 7895"/>
            </a:avLst>
          </a:prstGeom>
          <a:solidFill>
            <a:srgbClr val="F0D9DF"/>
          </a:solidFill>
          <a:ln/>
        </p:spPr>
      </p:sp>
      <p:sp>
        <p:nvSpPr>
          <p:cNvPr id="88" name="Text 86"/>
          <p:cNvSpPr/>
          <p:nvPr/>
        </p:nvSpPr>
        <p:spPr>
          <a:xfrm>
            <a:off x="10396728" y="49103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10872216" y="4134917"/>
            <a:ext cx="347472" cy="757123"/>
          </a:xfrm>
          <a:prstGeom prst="roundRect">
            <a:avLst>
              <a:gd name="adj" fmla="val 7895"/>
            </a:avLst>
          </a:prstGeom>
          <a:solidFill>
            <a:srgbClr val="C2607A"/>
          </a:solidFill>
          <a:ln/>
        </p:spPr>
      </p:sp>
      <p:sp>
        <p:nvSpPr>
          <p:cNvPr id="90" name="Text 88"/>
          <p:cNvSpPr/>
          <p:nvPr/>
        </p:nvSpPr>
        <p:spPr>
          <a:xfrm>
            <a:off x="10844784" y="49103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8138160" y="51846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FF7F9"/>
          </a:solidFill>
          <a:ln w="6350">
            <a:solidFill>
              <a:srgbClr val="F0CDD7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75320" y="5184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鮮奶剩 4 罐 · 低於安全量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一個核心多模組:POS / CRM / ERP 是同一個 Supabase 資料庫的不同操作介面。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介面設計 · MIGI CIS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即時看板 · 官方牌譜查閱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291840" cy="384048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9339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9339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9339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9" name="Text 7"/>
          <p:cNvSpPr/>
          <p:nvPr/>
        </p:nvSpPr>
        <p:spPr>
          <a:xfrm>
            <a:off x="1298448" y="1947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出餐看板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3240" y="196596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22960" y="2203704"/>
            <a:ext cx="329184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33172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FAD6D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404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2404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製作中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3000" y="27157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奶茶×2 鬆餅×1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5840" y="320040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DBC3B5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3273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待送餐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0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小熊餅乾×4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05840" y="4069080"/>
            <a:ext cx="2926080" cy="749808"/>
          </a:xfrm>
          <a:prstGeom prst="roundRect">
            <a:avLst>
              <a:gd name="adj" fmla="val 8537"/>
            </a:avLst>
          </a:prstGeom>
          <a:solidFill>
            <a:srgbClr val="F0EFE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4142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0" y="4142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已送達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43000" y="4453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熱烏龍×4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7680" y="1874520"/>
            <a:ext cx="3291840" cy="384048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07408" y="199339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27" name="Shape 25"/>
          <p:cNvSpPr/>
          <p:nvPr/>
        </p:nvSpPr>
        <p:spPr>
          <a:xfrm>
            <a:off x="4517136" y="199339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28" name="Shape 26"/>
          <p:cNvSpPr/>
          <p:nvPr/>
        </p:nvSpPr>
        <p:spPr>
          <a:xfrm>
            <a:off x="4626864" y="199339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19476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派車看板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37960" y="1965960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車隊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297680" y="2203704"/>
            <a:ext cx="329184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2331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18:40 接 · 小婷→旗艦店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480560" y="2551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王師傅 ABC-1234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537960" y="237744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3774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已派遣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480560" y="3044952"/>
            <a:ext cx="2926080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3200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21:30 送 · 美美→返家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480560" y="34198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尚未指派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537960" y="324612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3246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待派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480560" y="3913632"/>
            <a:ext cx="2926080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17:10 接 · 玉姨→旗艦店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480560" y="42885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李師傅 已上車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37960" y="411480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0EFEE"/>
          </a:solidFill>
          <a:ln/>
        </p:spPr>
      </p:sp>
      <p:sp>
        <p:nvSpPr>
          <p:cNvPr id="46" name="Text 44"/>
          <p:cNvSpPr/>
          <p:nvPr/>
        </p:nvSpPr>
        <p:spPr>
          <a:xfrm>
            <a:off x="6537960" y="41148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772400" y="1874520"/>
            <a:ext cx="3657600" cy="384048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882128" y="1993392"/>
            <a:ext cx="64008" cy="64008"/>
          </a:xfrm>
          <a:prstGeom prst="ellipse">
            <a:avLst/>
          </a:prstGeom>
          <a:solidFill>
            <a:srgbClr val="E8C9D1"/>
          </a:solidFill>
          <a:ln/>
        </p:spPr>
      </p:sp>
      <p:sp>
        <p:nvSpPr>
          <p:cNvPr id="49" name="Shape 47"/>
          <p:cNvSpPr/>
          <p:nvPr/>
        </p:nvSpPr>
        <p:spPr>
          <a:xfrm>
            <a:off x="7991856" y="1993392"/>
            <a:ext cx="64008" cy="64008"/>
          </a:xfrm>
          <a:prstGeom prst="ellipse">
            <a:avLst/>
          </a:prstGeom>
          <a:solidFill>
            <a:srgbClr val="EFE3DA"/>
          </a:solidFill>
          <a:ln/>
        </p:spPr>
      </p:sp>
      <p:sp>
        <p:nvSpPr>
          <p:cNvPr id="50" name="Shape 48"/>
          <p:cNvSpPr/>
          <p:nvPr/>
        </p:nvSpPr>
        <p:spPr>
          <a:xfrm>
            <a:off x="8101584" y="1993392"/>
            <a:ext cx="64008" cy="64008"/>
          </a:xfrm>
          <a:prstGeom prst="ellipse">
            <a:avLst/>
          </a:prstGeom>
          <a:solidFill>
            <a:srgbClr val="E6E6E6"/>
          </a:solidFill>
          <a:ln/>
        </p:spPr>
      </p:sp>
      <p:sp>
        <p:nvSpPr>
          <p:cNvPr id="51" name="Text 49"/>
          <p:cNvSpPr/>
          <p:nvPr/>
        </p:nvSpPr>
        <p:spPr>
          <a:xfrm>
            <a:off x="8247888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官方牌譜查閱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72400" y="2203704"/>
            <a:ext cx="3657600" cy="0"/>
          </a:xfrm>
          <a:prstGeom prst="line">
            <a:avLst/>
          </a:prstGeom>
          <a:noFill/>
          <a:ln w="6350">
            <a:solidFill>
              <a:srgbClr val="EFED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55280" y="2331720"/>
            <a:ext cx="3291840" cy="384048"/>
          </a:xfrm>
          <a:prstGeom prst="roundRect">
            <a:avLst>
              <a:gd name="adj" fmla="val 14286"/>
            </a:avLst>
          </a:prstGeom>
          <a:solidFill>
            <a:srgbClr val="F8F7F6"/>
          </a:solidFill>
          <a:ln/>
        </p:spPr>
      </p:sp>
      <p:sp>
        <p:nvSpPr>
          <p:cNvPr id="54" name="Text 52"/>
          <p:cNvSpPr/>
          <p:nvPr/>
        </p:nvSpPr>
        <p:spPr>
          <a:xfrm>
            <a:off x="8092440" y="2331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小婷 胡 小美 · 3 台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104120" y="2414016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10104120" y="24140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7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攤牌對帳 ✓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955280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23 / 68 手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955280" y="3044952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7F9"/>
          </a:solidFill>
          <a:ln w="6350">
            <a:solidFill>
              <a:srgbClr val="F0CDD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92440" y="30449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輪 · 西家 小美 打 5筒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955280" y="36301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各家打牌序(系統重建)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955280" y="384962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 小婷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823960" y="38496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 1萬 東 9索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955280" y="41422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南 美美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8823960" y="4142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 2索 白 7筒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955280" y="44348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西 小美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8823960" y="4434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9萬 西 4索 5筒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955280" y="47274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 阿芳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8823960" y="47274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 3萬 6索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955280" y="50749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實體混堆;此排列由逐手事件數位重建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看板走 Realtime 即時更新;牌譜含來源與信心值,低信心自動標記人工抽查。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介面設計 · MIGI CIS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會員端服務 — 接送預約 · 配桌通知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828800" y="1828800"/>
            <a:ext cx="2468880" cy="445991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988083" y="1892513"/>
            <a:ext cx="47784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988083" y="2035867"/>
            <a:ext cx="955695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83545" y="2019939"/>
            <a:ext cx="238924" cy="23892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10" name="Text 7"/>
          <p:cNvSpPr/>
          <p:nvPr/>
        </p:nvSpPr>
        <p:spPr>
          <a:xfrm>
            <a:off x="3883545" y="2019939"/>
            <a:ext cx="238924" cy="23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1988083" y="2322576"/>
            <a:ext cx="2150315" cy="461919"/>
          </a:xfrm>
          <a:prstGeom prst="roundRect">
            <a:avLst>
              <a:gd name="adj" fmla="val 25734"/>
            </a:avLst>
          </a:prstGeom>
          <a:solidFill>
            <a:srgbClr val="FAD6DC"/>
          </a:solidFill>
          <a:ln/>
        </p:spPr>
      </p:sp>
      <p:sp>
        <p:nvSpPr>
          <p:cNvPr id="12" name="Text 9"/>
          <p:cNvSpPr/>
          <p:nvPr/>
        </p:nvSpPr>
        <p:spPr>
          <a:xfrm>
            <a:off x="2099580" y="2386289"/>
            <a:ext cx="1274261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接送服務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099580" y="2561500"/>
            <a:ext cx="1831750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配桌湊齊時,可一鍵順路預約</a:t>
            </a:r>
            <a:endParaRPr lang="en-US" sz="530" dirty="0"/>
          </a:p>
        </p:txBody>
      </p:sp>
      <p:sp>
        <p:nvSpPr>
          <p:cNvPr id="14" name="Shape 11"/>
          <p:cNvSpPr/>
          <p:nvPr/>
        </p:nvSpPr>
        <p:spPr>
          <a:xfrm>
            <a:off x="1988083" y="2784495"/>
            <a:ext cx="573417" cy="219456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15" name="Text 12"/>
          <p:cNvSpPr/>
          <p:nvPr/>
        </p:nvSpPr>
        <p:spPr>
          <a:xfrm>
            <a:off x="1988083" y="2784495"/>
            <a:ext cx="5734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來店接送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625213" y="2784495"/>
            <a:ext cx="621202" cy="219456"/>
          </a:xfrm>
          <a:prstGeom prst="roundRect">
            <a:avLst>
              <a:gd name="adj" fmla="val 50000"/>
            </a:avLst>
          </a:prstGeom>
          <a:solidFill>
            <a:srgbClr val="F0EFEE"/>
          </a:solidFill>
          <a:ln/>
        </p:spPr>
      </p:sp>
      <p:sp>
        <p:nvSpPr>
          <p:cNvPr id="17" name="Text 14"/>
          <p:cNvSpPr/>
          <p:nvPr/>
        </p:nvSpPr>
        <p:spPr>
          <a:xfrm>
            <a:off x="2625213" y="2784495"/>
            <a:ext cx="6212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返家送回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988083" y="3023419"/>
            <a:ext cx="2150315" cy="509704"/>
          </a:xfrm>
          <a:prstGeom prst="roundRect">
            <a:avLst>
              <a:gd name="adj" fmla="val 16146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67724" y="3118989"/>
            <a:ext cx="63713" cy="63713"/>
          </a:xfrm>
          <a:prstGeom prst="ellipse">
            <a:avLst/>
          </a:prstGeom>
          <a:solidFill>
            <a:srgbClr val="C2607A"/>
          </a:solidFill>
          <a:ln/>
        </p:spPr>
      </p:sp>
      <p:sp>
        <p:nvSpPr>
          <p:cNvPr id="20" name="Text 17"/>
          <p:cNvSpPr/>
          <p:nvPr/>
        </p:nvSpPr>
        <p:spPr>
          <a:xfrm>
            <a:off x="2195150" y="3087132"/>
            <a:ext cx="1831750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上車:我的常用地址 · 家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2067724" y="3341985"/>
            <a:ext cx="63713" cy="63713"/>
          </a:xfrm>
          <a:prstGeom prst="rect">
            <a:avLst/>
          </a:prstGeom>
          <a:solidFill>
            <a:srgbClr val="2E2B2C"/>
          </a:solidFill>
          <a:ln/>
        </p:spPr>
      </p:sp>
      <p:sp>
        <p:nvSpPr>
          <p:cNvPr id="22" name="Text 19"/>
          <p:cNvSpPr/>
          <p:nvPr/>
        </p:nvSpPr>
        <p:spPr>
          <a:xfrm>
            <a:off x="2195150" y="3310128"/>
            <a:ext cx="1831750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前往:MIGI 旗艦店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988083" y="3612765"/>
            <a:ext cx="955695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出發時間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1988083" y="3740191"/>
            <a:ext cx="445991" cy="219456"/>
          </a:xfrm>
          <a:prstGeom prst="roundRect">
            <a:avLst>
              <a:gd name="adj" fmla="val 50000"/>
            </a:avLst>
          </a:prstGeom>
          <a:solidFill>
            <a:srgbClr val="F0EFEE"/>
          </a:solidFill>
          <a:ln/>
        </p:spPr>
      </p:sp>
      <p:sp>
        <p:nvSpPr>
          <p:cNvPr id="25" name="Text 22"/>
          <p:cNvSpPr/>
          <p:nvPr/>
        </p:nvSpPr>
        <p:spPr>
          <a:xfrm>
            <a:off x="1988083" y="3740191"/>
            <a:ext cx="445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497787" y="3740191"/>
            <a:ext cx="445991" cy="219456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27" name="Text 24"/>
          <p:cNvSpPr/>
          <p:nvPr/>
        </p:nvSpPr>
        <p:spPr>
          <a:xfrm>
            <a:off x="2497787" y="3740191"/>
            <a:ext cx="445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18:40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007491" y="3740191"/>
            <a:ext cx="445991" cy="219456"/>
          </a:xfrm>
          <a:prstGeom prst="roundRect">
            <a:avLst>
              <a:gd name="adj" fmla="val 50000"/>
            </a:avLst>
          </a:prstGeom>
          <a:solidFill>
            <a:srgbClr val="F0EFEE"/>
          </a:solidFill>
          <a:ln/>
        </p:spPr>
      </p:sp>
      <p:sp>
        <p:nvSpPr>
          <p:cNvPr id="29" name="Text 26"/>
          <p:cNvSpPr/>
          <p:nvPr/>
        </p:nvSpPr>
        <p:spPr>
          <a:xfrm>
            <a:off x="3007491" y="3740191"/>
            <a:ext cx="445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19:00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988083" y="4010971"/>
            <a:ext cx="2150315" cy="254852"/>
          </a:xfrm>
          <a:prstGeom prst="roundRect">
            <a:avLst>
              <a:gd name="adj" fmla="val 50232"/>
            </a:avLst>
          </a:prstGeom>
          <a:solidFill>
            <a:srgbClr val="2E2B2C"/>
          </a:solidFill>
          <a:ln/>
        </p:spPr>
      </p:sp>
      <p:sp>
        <p:nvSpPr>
          <p:cNvPr id="31" name="Text 28"/>
          <p:cNvSpPr/>
          <p:nvPr/>
        </p:nvSpPr>
        <p:spPr>
          <a:xfrm>
            <a:off x="1988083" y="4010971"/>
            <a:ext cx="2150315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預約接送 · 80 點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988083" y="4361393"/>
            <a:ext cx="2150315" cy="398206"/>
          </a:xfrm>
          <a:prstGeom prst="roundRect">
            <a:avLst>
              <a:gd name="adj" fmla="val 20667"/>
            </a:avLst>
          </a:prstGeom>
          <a:solidFill>
            <a:srgbClr val="FFF7F9"/>
          </a:solidFill>
          <a:ln w="6350">
            <a:solidFill>
              <a:srgbClr val="F0CDD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083652" y="4425106"/>
            <a:ext cx="1911391" cy="127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已派遣 · 王師傅 ABC-1234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2083652" y="4568460"/>
            <a:ext cx="1911391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預計 18:35 抵達 · 合作車隊</a:t>
            </a:r>
            <a:endParaRPr lang="en-US" sz="550" dirty="0"/>
          </a:p>
        </p:txBody>
      </p:sp>
      <p:sp>
        <p:nvSpPr>
          <p:cNvPr id="35" name="Shape 32"/>
          <p:cNvSpPr/>
          <p:nvPr/>
        </p:nvSpPr>
        <p:spPr>
          <a:xfrm>
            <a:off x="4846320" y="1828800"/>
            <a:ext cx="2468880" cy="4459912"/>
          </a:xfrm>
          <a:prstGeom prst="roundRect">
            <a:avLst>
              <a:gd name="adj" fmla="val 5926"/>
            </a:avLst>
          </a:prstGeom>
          <a:solidFill>
            <a:srgbClr val="8FA3B8"/>
          </a:solidFill>
          <a:ln w="9525">
            <a:solidFill>
              <a:srgbClr val="D8D4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846320" y="1828800"/>
            <a:ext cx="2468880" cy="318565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7" name="Text 34"/>
          <p:cNvSpPr/>
          <p:nvPr/>
        </p:nvSpPr>
        <p:spPr>
          <a:xfrm>
            <a:off x="5117100" y="1828800"/>
            <a:ext cx="2150315" cy="318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女生的麻將聚會店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4941890" y="2258863"/>
            <a:ext cx="2277741" cy="1194619"/>
          </a:xfrm>
          <a:prstGeom prst="roundRect">
            <a:avLst>
              <a:gd name="adj" fmla="val 5358"/>
            </a:avLst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4941890" y="2258863"/>
            <a:ext cx="2277741" cy="366350"/>
          </a:xfrm>
          <a:prstGeom prst="roundRect">
            <a:avLst>
              <a:gd name="adj" fmla="val 17472"/>
            </a:avLst>
          </a:prstGeom>
          <a:solidFill>
            <a:srgbClr val="FAD6DC"/>
          </a:solidFill>
          <a:ln/>
        </p:spPr>
      </p:sp>
      <p:sp>
        <p:nvSpPr>
          <p:cNvPr id="40" name="Text 37"/>
          <p:cNvSpPr/>
          <p:nvPr/>
        </p:nvSpPr>
        <p:spPr>
          <a:xfrm>
            <a:off x="5021531" y="2306648"/>
            <a:ext cx="2118458" cy="14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妳的桌湊齊了!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21531" y="2450002"/>
            <a:ext cx="211845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T3 桌 · 台16張 · 金牌熊場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5021531" y="2672998"/>
            <a:ext cx="211845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同桌:小美·玉姨·阿芳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5021531" y="2784495"/>
            <a:ext cx="2118458" cy="111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請於 10 分鐘內確認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5021531" y="2943778"/>
            <a:ext cx="1027373" cy="191139"/>
          </a:xfrm>
          <a:prstGeom prst="roundRect">
            <a:avLst>
              <a:gd name="adj" fmla="val 57407"/>
            </a:avLst>
          </a:prstGeom>
          <a:solidFill>
            <a:srgbClr val="2E2B2C"/>
          </a:solidFill>
          <a:ln/>
        </p:spPr>
      </p:sp>
      <p:sp>
        <p:nvSpPr>
          <p:cNvPr id="45" name="Text 42"/>
          <p:cNvSpPr/>
          <p:nvPr/>
        </p:nvSpPr>
        <p:spPr>
          <a:xfrm>
            <a:off x="5021531" y="2943778"/>
            <a:ext cx="1027373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確認入座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6112617" y="2943778"/>
            <a:ext cx="1027373" cy="191139"/>
          </a:xfrm>
          <a:prstGeom prst="roundRect">
            <a:avLst>
              <a:gd name="adj" fmla="val 57407"/>
            </a:avLst>
          </a:prstGeom>
          <a:solidFill>
            <a:srgbClr val="FFFFFF"/>
          </a:solidFill>
          <a:ln w="6350">
            <a:solidFill>
              <a:srgbClr val="ECEAE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12617" y="2943778"/>
            <a:ext cx="1027373" cy="191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先不要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77724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三入口・一核心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7772400" y="256032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241F20"/>
          </a:solidFill>
          <a:ln w="6350">
            <a:solidFill>
              <a:srgbClr val="3A30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36992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D6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LIFF 頁面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7936992" y="288950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C2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複雜操作:錢包、配桌、成績、點餐、商城、叫車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7772400" y="3520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241F20"/>
          </a:solidFill>
          <a:ln w="6350">
            <a:solidFill>
              <a:srgbClr val="3A30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936992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D6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訊息機器人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7936992" y="384962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C2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快查快答+主動推播:點數查詢、配桌湊齊通知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7772400" y="448056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241F20"/>
          </a:solidFill>
          <a:ln w="6350">
            <a:solidFill>
              <a:srgbClr val="3A303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36992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D6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員工後台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7936992" y="48097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C2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桌台看板、POS、CRM、ERP、牌譜、派車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複雜操作走 LIFF、即時召回走訊息推播、營運管理走後台 — 三入口讀寫同一套資料。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會員體驗 · MIGI CIS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十大留存引擎 (1–5) — 段位·成就·活動·摸彩·簽到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23544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04872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9" name="Text 7"/>
          <p:cNvSpPr/>
          <p:nvPr/>
        </p:nvSpPr>
        <p:spPr>
          <a:xfrm>
            <a:off x="2404872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10512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1810512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競技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23544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段位 · 雀神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3544" y="2679192"/>
            <a:ext cx="1700784" cy="603504"/>
          </a:xfrm>
          <a:prstGeom prst="roundRect">
            <a:avLst>
              <a:gd name="adj" fmla="val 10606"/>
            </a:avLst>
          </a:prstGeom>
          <a:solidFill>
            <a:srgbClr val="FAD6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3272" y="2788920"/>
            <a:ext cx="603504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" y="278892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金牌熊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691640" y="27889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距白金 180 分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691640" y="2971800"/>
            <a:ext cx="86868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1640" y="2971800"/>
            <a:ext cx="477774" cy="91440"/>
          </a:xfrm>
          <a:prstGeom prst="roundRect">
            <a:avLst>
              <a:gd name="adj" fmla="val 50000"/>
            </a:avLst>
          </a:prstGeom>
          <a:solidFill>
            <a:srgbClr val="C24E6A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544" y="3392424"/>
            <a:ext cx="813816" cy="566928"/>
          </a:xfrm>
          <a:prstGeom prst="roundRect">
            <a:avLst>
              <a:gd name="adj" fmla="val 11290"/>
            </a:avLst>
          </a:prstGeom>
          <a:solidFill>
            <a:srgbClr val="F8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984" y="346557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胡牌率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14984" y="3611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10512" y="3392424"/>
            <a:ext cx="813816" cy="566928"/>
          </a:xfrm>
          <a:prstGeom prst="roundRect">
            <a:avLst>
              <a:gd name="adj" fmla="val 11290"/>
            </a:avLst>
          </a:prstGeom>
          <a:solidFill>
            <a:srgbClr val="F8F7F6"/>
          </a:solidFill>
          <a:ln/>
        </p:spPr>
      </p:sp>
      <p:sp>
        <p:nvSpPr>
          <p:cNvPr id="23" name="Text 21"/>
          <p:cNvSpPr/>
          <p:nvPr/>
        </p:nvSpPr>
        <p:spPr>
          <a:xfrm>
            <a:off x="1901952" y="346557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放槍率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901952" y="3611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" y="408736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本季雀神熊 · 小婷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23544" y="425196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全店排名 #128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23544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競技實力 · 會升降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90088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136392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136392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023360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0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徽章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136392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成就徽章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36392" y="2697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AD6DC"/>
          </a:solidFill>
          <a:ln/>
        </p:spPr>
      </p:sp>
      <p:sp>
        <p:nvSpPr>
          <p:cNvPr id="37" name="Shape 35"/>
          <p:cNvSpPr/>
          <p:nvPr/>
        </p:nvSpPr>
        <p:spPr>
          <a:xfrm>
            <a:off x="3739896" y="2697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AD6DC"/>
          </a:solidFill>
          <a:ln/>
        </p:spPr>
      </p:sp>
      <p:sp>
        <p:nvSpPr>
          <p:cNvPr id="38" name="Shape 36"/>
          <p:cNvSpPr/>
          <p:nvPr/>
        </p:nvSpPr>
        <p:spPr>
          <a:xfrm>
            <a:off x="4343400" y="2697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1EEEC"/>
          </a:solidFill>
          <a:ln/>
        </p:spPr>
      </p:sp>
      <p:sp>
        <p:nvSpPr>
          <p:cNvPr id="39" name="Shape 37"/>
          <p:cNvSpPr/>
          <p:nvPr/>
        </p:nvSpPr>
        <p:spPr>
          <a:xfrm>
            <a:off x="3136392" y="3282696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AD6DC"/>
          </a:solidFill>
          <a:ln/>
        </p:spPr>
      </p:sp>
      <p:sp>
        <p:nvSpPr>
          <p:cNvPr id="40" name="Shape 38"/>
          <p:cNvSpPr/>
          <p:nvPr/>
        </p:nvSpPr>
        <p:spPr>
          <a:xfrm>
            <a:off x="3739896" y="3282696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1EEEC"/>
          </a:solidFill>
          <a:ln/>
        </p:spPr>
      </p:sp>
      <p:sp>
        <p:nvSpPr>
          <p:cNvPr id="41" name="Shape 39"/>
          <p:cNvSpPr/>
          <p:nvPr/>
        </p:nvSpPr>
        <p:spPr>
          <a:xfrm>
            <a:off x="4343400" y="3282696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1EEEC"/>
          </a:solidFill>
          <a:ln/>
        </p:spPr>
      </p:sp>
      <p:sp>
        <p:nvSpPr>
          <p:cNvPr id="42" name="Shape 40"/>
          <p:cNvSpPr/>
          <p:nvPr/>
        </p:nvSpPr>
        <p:spPr>
          <a:xfrm>
            <a:off x="3520440" y="2715768"/>
            <a:ext cx="146304" cy="146304"/>
          </a:xfrm>
          <a:prstGeom prst="ellipse">
            <a:avLst/>
          </a:prstGeom>
          <a:solidFill>
            <a:srgbClr val="7FB893"/>
          </a:solidFill>
          <a:ln/>
        </p:spPr>
      </p:sp>
      <p:sp>
        <p:nvSpPr>
          <p:cNvPr id="43" name="Shape 41"/>
          <p:cNvSpPr/>
          <p:nvPr/>
        </p:nvSpPr>
        <p:spPr>
          <a:xfrm>
            <a:off x="4123944" y="2715768"/>
            <a:ext cx="146304" cy="146304"/>
          </a:xfrm>
          <a:prstGeom prst="ellipse">
            <a:avLst/>
          </a:prstGeom>
          <a:solidFill>
            <a:srgbClr val="7FB893"/>
          </a:solidFill>
          <a:ln/>
        </p:spPr>
      </p:sp>
      <p:sp>
        <p:nvSpPr>
          <p:cNvPr id="44" name="Shape 42"/>
          <p:cNvSpPr/>
          <p:nvPr/>
        </p:nvSpPr>
        <p:spPr>
          <a:xfrm>
            <a:off x="3136392" y="3977640"/>
            <a:ext cx="1700784" cy="548640"/>
          </a:xfrm>
          <a:prstGeom prst="roundRect">
            <a:avLst>
              <a:gd name="adj" fmla="val 11667"/>
            </a:avLst>
          </a:prstGeom>
          <a:solidFill>
            <a:srgbClr val="F8F7F6"/>
          </a:solidFill>
          <a:ln/>
        </p:spPr>
      </p:sp>
      <p:sp>
        <p:nvSpPr>
          <p:cNvPr id="45" name="Text 43"/>
          <p:cNvSpPr/>
          <p:nvPr/>
        </p:nvSpPr>
        <p:spPr>
          <a:xfrm>
            <a:off x="3246120" y="403250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零放槍之夜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6120" y="4215384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解鎖 · 獲稀有徽章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136392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 · 永久保留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202936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349240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34924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30568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52" name="Text 50"/>
          <p:cNvSpPr/>
          <p:nvPr/>
        </p:nvSpPr>
        <p:spPr>
          <a:xfrm>
            <a:off x="6830568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236208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54" name="Text 52"/>
          <p:cNvSpPr/>
          <p:nvPr/>
        </p:nvSpPr>
        <p:spPr>
          <a:xfrm>
            <a:off x="6236208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349240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限時活動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349240" y="2679192"/>
            <a:ext cx="1700784" cy="603504"/>
          </a:xfrm>
          <a:prstGeom prst="roundRect">
            <a:avLst>
              <a:gd name="adj" fmla="val 10606"/>
            </a:avLst>
          </a:prstGeom>
          <a:solidFill>
            <a:srgbClr val="FAD6DC"/>
          </a:solidFill>
          <a:ln/>
        </p:spPr>
      </p:sp>
      <p:sp>
        <p:nvSpPr>
          <p:cNvPr id="57" name="Text 55"/>
          <p:cNvSpPr/>
          <p:nvPr/>
        </p:nvSpPr>
        <p:spPr>
          <a:xfrm>
            <a:off x="5458968" y="27523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週二 · 閨蜜日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458968" y="297180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三人同行 桌時 8 折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349240" y="3374136"/>
            <a:ext cx="1700784" cy="402336"/>
          </a:xfrm>
          <a:prstGeom prst="roundRect">
            <a:avLst>
              <a:gd name="adj" fmla="val 15909"/>
            </a:avLst>
          </a:prstGeom>
          <a:solidFill>
            <a:srgbClr val="F8F7F6"/>
          </a:solidFill>
          <a:ln/>
        </p:spPr>
      </p:sp>
      <p:sp>
        <p:nvSpPr>
          <p:cNvPr id="60" name="Text 58"/>
          <p:cNvSpPr/>
          <p:nvPr/>
        </p:nvSpPr>
        <p:spPr>
          <a:xfrm>
            <a:off x="5458968" y="337413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週四 · 養生場 買一送一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349240" y="3849624"/>
            <a:ext cx="1700784" cy="402336"/>
          </a:xfrm>
          <a:prstGeom prst="roundRect">
            <a:avLst>
              <a:gd name="adj" fmla="val 15909"/>
            </a:avLst>
          </a:prstGeom>
          <a:solidFill>
            <a:srgbClr val="F8F7F6"/>
          </a:solidFill>
          <a:ln/>
        </p:spPr>
      </p:sp>
      <p:sp>
        <p:nvSpPr>
          <p:cNvPr id="62" name="Text 60"/>
          <p:cNvSpPr/>
          <p:nvPr/>
        </p:nvSpPr>
        <p:spPr>
          <a:xfrm>
            <a:off x="5458968" y="384962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 · 雀神週賽事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349240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今天就來 · 填空桌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415784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562088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562088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043416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68" name="Text 66"/>
          <p:cNvSpPr/>
          <p:nvPr/>
        </p:nvSpPr>
        <p:spPr>
          <a:xfrm>
            <a:off x="9043416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449056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70" name="Text 68"/>
          <p:cNvSpPr/>
          <p:nvPr/>
        </p:nvSpPr>
        <p:spPr>
          <a:xfrm>
            <a:off x="8449056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扭蛋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562088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扭蛋摸彩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845552" y="2743200"/>
            <a:ext cx="1133856" cy="11338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73" name="Shape 71"/>
          <p:cNvSpPr/>
          <p:nvPr/>
        </p:nvSpPr>
        <p:spPr>
          <a:xfrm>
            <a:off x="8028432" y="292608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8211312" y="3063240"/>
            <a:ext cx="402336" cy="493776"/>
          </a:xfrm>
          <a:prstGeom prst="ellipse">
            <a:avLst/>
          </a:prstGeom>
          <a:solidFill>
            <a:srgbClr val="FBDEE4"/>
          </a:solidFill>
          <a:ln w="12700">
            <a:solidFill>
              <a:srgbClr val="E0AEB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62088" y="4069080"/>
            <a:ext cx="1700784" cy="384048"/>
          </a:xfrm>
          <a:prstGeom prst="roundRect">
            <a:avLst>
              <a:gd name="adj" fmla="val 50000"/>
            </a:avLst>
          </a:prstGeom>
          <a:solidFill>
            <a:srgbClr val="2E2B2C"/>
          </a:solidFill>
          <a:ln/>
        </p:spPr>
      </p:sp>
      <p:sp>
        <p:nvSpPr>
          <p:cNvPr id="76" name="Text 74"/>
          <p:cNvSpPr/>
          <p:nvPr/>
        </p:nvSpPr>
        <p:spPr>
          <a:xfrm>
            <a:off x="7562088" y="406908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轉一顆 · 50 點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562088" y="4544568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保底10抽必中 · 機率公開</a:t>
            </a:r>
            <a:endParaRPr lang="en-US" sz="680" dirty="0"/>
          </a:p>
        </p:txBody>
      </p:sp>
      <p:sp>
        <p:nvSpPr>
          <p:cNvPr id="78" name="Text 76"/>
          <p:cNvSpPr/>
          <p:nvPr/>
        </p:nvSpPr>
        <p:spPr>
          <a:xfrm>
            <a:off x="7562088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多消費 · 克制不賭博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628632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9774936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9774936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1256264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83" name="Text 81"/>
          <p:cNvSpPr/>
          <p:nvPr/>
        </p:nvSpPr>
        <p:spPr>
          <a:xfrm>
            <a:off x="11256264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0661904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85" name="Text 83"/>
          <p:cNvSpPr/>
          <p:nvPr/>
        </p:nvSpPr>
        <p:spPr>
          <a:xfrm>
            <a:off x="10661904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簽到</a:t>
            </a:r>
            <a:endParaRPr lang="en-US" sz="650" dirty="0"/>
          </a:p>
        </p:txBody>
      </p:sp>
      <p:sp>
        <p:nvSpPr>
          <p:cNvPr id="86" name="Text 84"/>
          <p:cNvSpPr/>
          <p:nvPr/>
        </p:nvSpPr>
        <p:spPr>
          <a:xfrm>
            <a:off x="9774936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每日簽到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9774936" y="26974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AD6DC"/>
          </a:solidFill>
          <a:ln/>
        </p:spPr>
      </p:sp>
      <p:sp>
        <p:nvSpPr>
          <p:cNvPr id="88" name="Shape 86"/>
          <p:cNvSpPr/>
          <p:nvPr/>
        </p:nvSpPr>
        <p:spPr>
          <a:xfrm>
            <a:off x="9912096" y="28072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9" name="Shape 87"/>
          <p:cNvSpPr/>
          <p:nvPr/>
        </p:nvSpPr>
        <p:spPr>
          <a:xfrm>
            <a:off x="10287000" y="26974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AD6DC"/>
          </a:solidFill>
          <a:ln/>
        </p:spPr>
      </p:sp>
      <p:sp>
        <p:nvSpPr>
          <p:cNvPr id="90" name="Shape 88"/>
          <p:cNvSpPr/>
          <p:nvPr/>
        </p:nvSpPr>
        <p:spPr>
          <a:xfrm>
            <a:off x="10424160" y="2807208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10799064" y="26974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BDEE4"/>
          </a:solidFill>
          <a:ln w="15240">
            <a:solidFill>
              <a:srgbClr val="E0728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799064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24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9774936" y="3246120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連續第 3 天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9774936" y="3447288"/>
            <a:ext cx="1700784" cy="91440"/>
          </a:xfrm>
          <a:prstGeom prst="roundRect">
            <a:avLst>
              <a:gd name="adj" fmla="val 50000"/>
            </a:avLst>
          </a:prstGeom>
          <a:solidFill>
            <a:srgbClr val="F0DDE3"/>
          </a:solidFill>
          <a:ln/>
        </p:spPr>
      </p:sp>
      <p:sp>
        <p:nvSpPr>
          <p:cNvPr id="95" name="Shape 93"/>
          <p:cNvSpPr/>
          <p:nvPr/>
        </p:nvSpPr>
        <p:spPr>
          <a:xfrm>
            <a:off x="9774936" y="3447288"/>
            <a:ext cx="714329" cy="91440"/>
          </a:xfrm>
          <a:prstGeom prst="roundRect">
            <a:avLst>
              <a:gd name="adj" fmla="val 50000"/>
            </a:avLst>
          </a:prstGeom>
          <a:solidFill>
            <a:srgbClr val="C24E6A"/>
          </a:solidFill>
          <a:ln/>
        </p:spPr>
      </p:sp>
      <p:sp>
        <p:nvSpPr>
          <p:cNvPr id="96" name="Shape 94"/>
          <p:cNvSpPr/>
          <p:nvPr/>
        </p:nvSpPr>
        <p:spPr>
          <a:xfrm>
            <a:off x="9774936" y="3648456"/>
            <a:ext cx="1700784" cy="548640"/>
          </a:xfrm>
          <a:prstGeom prst="roundRect">
            <a:avLst>
              <a:gd name="adj" fmla="val 11667"/>
            </a:avLst>
          </a:prstGeom>
          <a:solidFill>
            <a:srgbClr val="F8F7F6"/>
          </a:solidFill>
          <a:ln/>
        </p:spPr>
      </p:sp>
      <p:sp>
        <p:nvSpPr>
          <p:cNvPr id="97" name="Text 95"/>
          <p:cNvSpPr/>
          <p:nvPr/>
        </p:nvSpPr>
        <p:spPr>
          <a:xfrm>
            <a:off x="9884664" y="370332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7 天大獎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884664" y="388620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小熊飲品券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9774936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天天開 App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 1–5:競技、收集、活動、抽獎、習慣 — 共用點數 · 牌譜 · 會員同一套資料。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會員體驗 · MIGI CIS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十大留存引擎 (6–10) — 養成·任務·名人堂·AI·推薦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23544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04872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9" name="Text 7"/>
          <p:cNvSpPr/>
          <p:nvPr/>
        </p:nvSpPr>
        <p:spPr>
          <a:xfrm>
            <a:off x="2404872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810512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11" name="Text 9"/>
          <p:cNvSpPr/>
          <p:nvPr/>
        </p:nvSpPr>
        <p:spPr>
          <a:xfrm>
            <a:off x="1810512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養成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23544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小熊養成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3544" y="2679192"/>
            <a:ext cx="1700784" cy="1371600"/>
          </a:xfrm>
          <a:prstGeom prst="roundRect">
            <a:avLst>
              <a:gd name="adj" fmla="val 5333"/>
            </a:avLst>
          </a:prstGeom>
          <a:solidFill>
            <a:srgbClr val="FBDEE4"/>
          </a:solidFill>
          <a:ln/>
        </p:spPr>
      </p:sp>
      <p:sp>
        <p:nvSpPr>
          <p:cNvPr id="14" name="Shape 12"/>
          <p:cNvSpPr/>
          <p:nvPr/>
        </p:nvSpPr>
        <p:spPr>
          <a:xfrm>
            <a:off x="1353312" y="3189427"/>
            <a:ext cx="566928" cy="521574"/>
          </a:xfrm>
          <a:prstGeom prst="ellipse">
            <a:avLst/>
          </a:prstGeom>
          <a:solidFill>
            <a:srgbClr val="D9B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1285281" y="2803916"/>
            <a:ext cx="192756" cy="192756"/>
          </a:xfrm>
          <a:prstGeom prst="ellipse">
            <a:avLst/>
          </a:prstGeom>
          <a:solidFill>
            <a:srgbClr val="D9B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1795516" y="2803916"/>
            <a:ext cx="192756" cy="192756"/>
          </a:xfrm>
          <a:prstGeom prst="ellipse">
            <a:avLst/>
          </a:prstGeom>
          <a:solidFill>
            <a:srgbClr val="D9B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1398666" y="2905963"/>
            <a:ext cx="476220" cy="442204"/>
          </a:xfrm>
          <a:prstGeom prst="ellipse">
            <a:avLst/>
          </a:prstGeom>
          <a:solidFill>
            <a:srgbClr val="E3BE92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2760" y="2837932"/>
            <a:ext cx="68031" cy="68031"/>
          </a:xfrm>
          <a:prstGeom prst="ellipse">
            <a:avLst/>
          </a:prstGeom>
          <a:solidFill>
            <a:srgbClr val="C24E6A"/>
          </a:solidFill>
          <a:ln/>
        </p:spPr>
      </p:sp>
      <p:sp>
        <p:nvSpPr>
          <p:cNvPr id="19" name="Shape 17"/>
          <p:cNvSpPr/>
          <p:nvPr/>
        </p:nvSpPr>
        <p:spPr>
          <a:xfrm>
            <a:off x="1512052" y="3053364"/>
            <a:ext cx="45354" cy="45354"/>
          </a:xfrm>
          <a:prstGeom prst="ellipse">
            <a:avLst/>
          </a:prstGeom>
          <a:solidFill>
            <a:srgbClr val="3A2E2A"/>
          </a:solidFill>
          <a:ln/>
        </p:spPr>
      </p:sp>
      <p:sp>
        <p:nvSpPr>
          <p:cNvPr id="20" name="Shape 18"/>
          <p:cNvSpPr/>
          <p:nvPr/>
        </p:nvSpPr>
        <p:spPr>
          <a:xfrm>
            <a:off x="1716146" y="3053364"/>
            <a:ext cx="45354" cy="45354"/>
          </a:xfrm>
          <a:prstGeom prst="ellipse">
            <a:avLst/>
          </a:prstGeom>
          <a:solidFill>
            <a:srgbClr val="3A2E2A"/>
          </a:solidFill>
          <a:ln/>
        </p:spPr>
      </p:sp>
      <p:sp>
        <p:nvSpPr>
          <p:cNvPr id="21" name="Shape 19"/>
          <p:cNvSpPr/>
          <p:nvPr/>
        </p:nvSpPr>
        <p:spPr>
          <a:xfrm>
            <a:off x="1580083" y="3098719"/>
            <a:ext cx="113386" cy="90708"/>
          </a:xfrm>
          <a:prstGeom prst="ellipse">
            <a:avLst/>
          </a:prstGeom>
          <a:solidFill>
            <a:srgbClr val="F4E3D6"/>
          </a:solidFill>
          <a:ln/>
        </p:spPr>
      </p:sp>
      <p:sp>
        <p:nvSpPr>
          <p:cNvPr id="22" name="Shape 20"/>
          <p:cNvSpPr/>
          <p:nvPr/>
        </p:nvSpPr>
        <p:spPr>
          <a:xfrm>
            <a:off x="1761500" y="3268797"/>
            <a:ext cx="170078" cy="226771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6350">
            <a:solidFill>
              <a:srgbClr val="D8D4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61500" y="3268797"/>
            <a:ext cx="170078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6" b="1" dirty="0">
                <a:solidFill>
                  <a:srgbClr val="C03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</a:t>
            </a:r>
            <a:endParaRPr lang="en-US" sz="496" dirty="0"/>
          </a:p>
        </p:txBody>
      </p:sp>
      <p:sp>
        <p:nvSpPr>
          <p:cNvPr id="24" name="Text 22"/>
          <p:cNvSpPr/>
          <p:nvPr/>
        </p:nvSpPr>
        <p:spPr>
          <a:xfrm>
            <a:off x="1993392" y="27523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24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Lv.12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23544" y="4123944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餵養:打牌+20 點餐+10 揪人+30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23544" y="4325112"/>
            <a:ext cx="1700784" cy="91440"/>
          </a:xfrm>
          <a:prstGeom prst="roundRect">
            <a:avLst>
              <a:gd name="adj" fmla="val 50000"/>
            </a:avLst>
          </a:prstGeom>
          <a:solidFill>
            <a:srgbClr val="F0DDE3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544" y="4325112"/>
            <a:ext cx="1020470" cy="91440"/>
          </a:xfrm>
          <a:prstGeom prst="roundRect">
            <a:avLst>
              <a:gd name="adj" fmla="val 50000"/>
            </a:avLst>
          </a:prstGeom>
          <a:solidFill>
            <a:srgbClr val="C24E6A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累積成長 · 賽季重置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90088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36392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136392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023360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0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3136392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每週任務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36392" y="2697480"/>
            <a:ext cx="1700784" cy="420624"/>
          </a:xfrm>
          <a:prstGeom prst="roundRect">
            <a:avLst>
              <a:gd name="adj" fmla="val 13043"/>
            </a:avLst>
          </a:prstGeom>
          <a:solidFill>
            <a:srgbClr val="F8F7F6"/>
          </a:solidFill>
          <a:ln/>
        </p:spPr>
      </p:sp>
      <p:sp>
        <p:nvSpPr>
          <p:cNvPr id="38" name="Text 36"/>
          <p:cNvSpPr/>
          <p:nvPr/>
        </p:nvSpPr>
        <p:spPr>
          <a:xfrm>
            <a:off x="3246120" y="26974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 3 場麻將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43400" y="2697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36392" y="3209544"/>
            <a:ext cx="1700784" cy="420624"/>
          </a:xfrm>
          <a:prstGeom prst="roundRect">
            <a:avLst>
              <a:gd name="adj" fmla="val 13043"/>
            </a:avLst>
          </a:prstGeom>
          <a:solidFill>
            <a:srgbClr val="F8F7F6"/>
          </a:solidFill>
          <a:ln/>
        </p:spPr>
      </p:sp>
      <p:sp>
        <p:nvSpPr>
          <p:cNvPr id="41" name="Text 39"/>
          <p:cNvSpPr/>
          <p:nvPr/>
        </p:nvSpPr>
        <p:spPr>
          <a:xfrm>
            <a:off x="3246120" y="32095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跟新朋友同桌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43400" y="32095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0/1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36392" y="3721608"/>
            <a:ext cx="1700784" cy="420624"/>
          </a:xfrm>
          <a:prstGeom prst="roundRect">
            <a:avLst>
              <a:gd name="adj" fmla="val 13043"/>
            </a:avLst>
          </a:prstGeom>
          <a:solidFill>
            <a:srgbClr val="EFF5EF"/>
          </a:solidFill>
          <a:ln/>
        </p:spPr>
      </p:sp>
      <p:sp>
        <p:nvSpPr>
          <p:cNvPr id="44" name="Text 42"/>
          <p:cNvSpPr/>
          <p:nvPr/>
        </p:nvSpPr>
        <p:spPr>
          <a:xfrm>
            <a:off x="3246120" y="3721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嚐一款新甜點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343400" y="37216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7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136392" y="4306824"/>
            <a:ext cx="1700784" cy="384048"/>
          </a:xfrm>
          <a:prstGeom prst="roundRect">
            <a:avLst>
              <a:gd name="adj" fmla="val 50000"/>
            </a:avLst>
          </a:prstGeom>
          <a:solidFill>
            <a:srgbClr val="2E2B2C"/>
          </a:solidFill>
          <a:ln/>
        </p:spPr>
      </p:sp>
      <p:sp>
        <p:nvSpPr>
          <p:cNvPr id="47" name="Text 45"/>
          <p:cNvSpPr/>
          <p:nvPr/>
        </p:nvSpPr>
        <p:spPr>
          <a:xfrm>
            <a:off x="3136392" y="430682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領獎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36392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每週刷新 · 這週回訪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202936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349240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49240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30568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53" name="Text 51"/>
          <p:cNvSpPr/>
          <p:nvPr/>
        </p:nvSpPr>
        <p:spPr>
          <a:xfrm>
            <a:off x="6830568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236208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55" name="Text 53"/>
          <p:cNvSpPr/>
          <p:nvPr/>
        </p:nvSpPr>
        <p:spPr>
          <a:xfrm>
            <a:off x="6236208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榮譽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349240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⑧ 名人堂俱樂部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349240" y="2679192"/>
            <a:ext cx="1700784" cy="548640"/>
          </a:xfrm>
          <a:prstGeom prst="roundRect">
            <a:avLst>
              <a:gd name="adj" fmla="val 11667"/>
            </a:avLst>
          </a:prstGeom>
          <a:solidFill>
            <a:srgbClr val="FAD6DC"/>
          </a:solidFill>
          <a:ln/>
        </p:spPr>
      </p:sp>
      <p:sp>
        <p:nvSpPr>
          <p:cNvPr id="58" name="Text 56"/>
          <p:cNvSpPr/>
          <p:nvPr/>
        </p:nvSpPr>
        <p:spPr>
          <a:xfrm>
            <a:off x="5349240" y="273405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歷代雀神名人堂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49240" y="293522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越多屆 · 越光榮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5349240" y="3337560"/>
            <a:ext cx="1700784" cy="310896"/>
          </a:xfrm>
          <a:prstGeom prst="roundRect">
            <a:avLst>
              <a:gd name="adj" fmla="val 20588"/>
            </a:avLst>
          </a:prstGeom>
          <a:solidFill>
            <a:srgbClr val="F8F7F6"/>
          </a:solidFill>
          <a:ln/>
        </p:spPr>
      </p:sp>
      <p:sp>
        <p:nvSpPr>
          <p:cNvPr id="61" name="Text 59"/>
          <p:cNvSpPr/>
          <p:nvPr/>
        </p:nvSpPr>
        <p:spPr>
          <a:xfrm>
            <a:off x="5458968" y="333756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小婷 · 三屆雀神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349240" y="3721608"/>
            <a:ext cx="1700784" cy="310896"/>
          </a:xfrm>
          <a:prstGeom prst="roundRect">
            <a:avLst>
              <a:gd name="adj" fmla="val 20588"/>
            </a:avLst>
          </a:prstGeom>
          <a:solidFill>
            <a:srgbClr val="F8F7F6"/>
          </a:solidFill>
          <a:ln/>
        </p:spPr>
      </p:sp>
      <p:sp>
        <p:nvSpPr>
          <p:cNvPr id="63" name="Text 61"/>
          <p:cNvSpPr/>
          <p:nvPr/>
        </p:nvSpPr>
        <p:spPr>
          <a:xfrm>
            <a:off x="5458968" y="372160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美美 · 兩屆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349240" y="4105656"/>
            <a:ext cx="1700784" cy="310896"/>
          </a:xfrm>
          <a:prstGeom prst="roundRect">
            <a:avLst>
              <a:gd name="adj" fmla="val 20588"/>
            </a:avLst>
          </a:prstGeom>
          <a:solidFill>
            <a:srgbClr val="F8F7F6"/>
          </a:solidFill>
          <a:ln/>
        </p:spPr>
      </p:sp>
      <p:sp>
        <p:nvSpPr>
          <p:cNvPr id="65" name="Text 63"/>
          <p:cNvSpPr/>
          <p:nvPr/>
        </p:nvSpPr>
        <p:spPr>
          <a:xfrm>
            <a:off x="5458968" y="410565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阿芳 · 衛冕中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349240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頂端尊榮 · 越爬越不想走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415784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562088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562088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043416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71" name="Text 69"/>
          <p:cNvSpPr/>
          <p:nvPr/>
        </p:nvSpPr>
        <p:spPr>
          <a:xfrm>
            <a:off x="9043416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449056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73" name="Text 71"/>
          <p:cNvSpPr/>
          <p:nvPr/>
        </p:nvSpPr>
        <p:spPr>
          <a:xfrm>
            <a:off x="8449056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長線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7562088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⑨ AI 動態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562088" y="2697480"/>
            <a:ext cx="1700784" cy="841248"/>
          </a:xfrm>
          <a:prstGeom prst="roundRect">
            <a:avLst>
              <a:gd name="adj" fmla="val 7609"/>
            </a:avLst>
          </a:prstGeom>
          <a:solidFill>
            <a:srgbClr val="F8F7F6"/>
          </a:solidFill>
          <a:ln/>
        </p:spPr>
      </p:sp>
      <p:sp>
        <p:nvSpPr>
          <p:cNvPr id="76" name="Text 74"/>
          <p:cNvSpPr/>
          <p:nvPr/>
        </p:nvSpPr>
        <p:spPr>
          <a:xfrm>
            <a:off x="7671816" y="27706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「妳今天放槍偏多,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671816" y="2935224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55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局末打安全牌試試~」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7671816" y="317296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4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依牌譜個人化建議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562088" y="3648456"/>
            <a:ext cx="1700784" cy="420624"/>
          </a:xfrm>
          <a:prstGeom prst="roundRect">
            <a:avLst>
              <a:gd name="adj" fmla="val 13043"/>
            </a:avLst>
          </a:prstGeom>
          <a:solidFill>
            <a:srgbClr val="FBDEE4"/>
          </a:solidFill>
          <a:ln/>
        </p:spPr>
      </p:sp>
      <p:sp>
        <p:nvSpPr>
          <p:cNvPr id="80" name="Text 78"/>
          <p:cNvSpPr/>
          <p:nvPr/>
        </p:nvSpPr>
        <p:spPr>
          <a:xfrm>
            <a:off x="7671816" y="3648456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流失風險 → 自動召回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562088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資料中台成熟後解鎖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9628632" y="1874520"/>
            <a:ext cx="1993392" cy="365760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6350">
            <a:solidFill>
              <a:srgbClr val="E0DE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9774936" y="1984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9774936" y="21488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1256264" y="2020824"/>
            <a:ext cx="219456" cy="219456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86" name="Text 84"/>
          <p:cNvSpPr/>
          <p:nvPr/>
        </p:nvSpPr>
        <p:spPr>
          <a:xfrm>
            <a:off x="11256264" y="20208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婷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10661904" y="2185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1904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獲客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9774936" y="240487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⑩ 推薦揪團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9774936" y="2679192"/>
            <a:ext cx="1700784" cy="530352"/>
          </a:xfrm>
          <a:prstGeom prst="roundRect">
            <a:avLst>
              <a:gd name="adj" fmla="val 12069"/>
            </a:avLst>
          </a:prstGeom>
          <a:solidFill>
            <a:srgbClr val="FAD6DC"/>
          </a:solidFill>
          <a:ln/>
        </p:spPr>
      </p:sp>
      <p:sp>
        <p:nvSpPr>
          <p:cNvPr id="91" name="Text 89"/>
          <p:cNvSpPr/>
          <p:nvPr/>
        </p:nvSpPr>
        <p:spPr>
          <a:xfrm>
            <a:off x="9884664" y="273405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3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我的推薦碼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9884664" y="28986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MIGI-婷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9774936" y="3300984"/>
            <a:ext cx="1700784" cy="365760"/>
          </a:xfrm>
          <a:prstGeom prst="roundRect">
            <a:avLst>
              <a:gd name="adj" fmla="val 15000"/>
            </a:avLst>
          </a:prstGeom>
          <a:solidFill>
            <a:srgbClr val="EFF5EF"/>
          </a:solidFill>
          <a:ln/>
        </p:spPr>
      </p:sp>
      <p:sp>
        <p:nvSpPr>
          <p:cNvPr id="94" name="Text 92"/>
          <p:cNvSpPr/>
          <p:nvPr/>
        </p:nvSpPr>
        <p:spPr>
          <a:xfrm>
            <a:off x="9884664" y="330098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7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已推薦 3 人 · 2 人成常客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9774936" y="3739896"/>
            <a:ext cx="1700784" cy="475488"/>
          </a:xfrm>
          <a:prstGeom prst="roundRect">
            <a:avLst>
              <a:gd name="adj" fmla="val 13462"/>
            </a:avLst>
          </a:prstGeom>
          <a:solidFill>
            <a:srgbClr val="F8F7F6"/>
          </a:solidFill>
          <a:ln/>
        </p:spPr>
      </p:sp>
      <p:sp>
        <p:nvSpPr>
          <p:cNvPr id="96" name="Text 94"/>
          <p:cNvSpPr/>
          <p:nvPr/>
        </p:nvSpPr>
        <p:spPr>
          <a:xfrm>
            <a:off x="9884664" y="379476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揪滿一桌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9884664" y="3959352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達人徽章 + 大獎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9774936" y="4306824"/>
            <a:ext cx="1700784" cy="384048"/>
          </a:xfrm>
          <a:prstGeom prst="roundRect">
            <a:avLst>
              <a:gd name="adj" fmla="val 50000"/>
            </a:avLst>
          </a:prstGeom>
          <a:solidFill>
            <a:srgbClr val="2E2B2C"/>
          </a:solidFill>
          <a:ln/>
        </p:spPr>
      </p:sp>
      <p:sp>
        <p:nvSpPr>
          <p:cNvPr id="99" name="Text 97"/>
          <p:cNvSpPr/>
          <p:nvPr/>
        </p:nvSpPr>
        <p:spPr>
          <a:xfrm>
            <a:off x="9774936" y="430682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分享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9774936" y="52212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94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湊咖 · 最強獲客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引擎 6–10:養成、目標、榮譽、智慧、裂變 — 小熊養成讓吉祥物變夥伴,推薦揪團最契合「四人成局」。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0624" cy="420624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49224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5486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A0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介面設計 · MIGI CIS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業務型店員工作台 — 我的客人 · 今日缺桌 · 本月業績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2926080" cy="42976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8E4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41832" y="1938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41832" y="2103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19272" y="1993392"/>
            <a:ext cx="237744" cy="23774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10" name="Text 7"/>
          <p:cNvSpPr/>
          <p:nvPr/>
        </p:nvSpPr>
        <p:spPr>
          <a:xfrm>
            <a:off x="3319272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珍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941832" y="2377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本月業績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41832" y="2578608"/>
            <a:ext cx="2596896" cy="676656"/>
          </a:xfrm>
          <a:prstGeom prst="roundRect">
            <a:avLst>
              <a:gd name="adj" fmla="val 8108"/>
            </a:avLst>
          </a:prstGeom>
          <a:solidFill>
            <a:srgbClr val="FAD6DC"/>
          </a:solidFill>
          <a:ln/>
        </p:spPr>
      </p:sp>
      <p:sp>
        <p:nvSpPr>
          <p:cNvPr id="13" name="Text 10"/>
          <p:cNvSpPr/>
          <p:nvPr/>
        </p:nvSpPr>
        <p:spPr>
          <a:xfrm>
            <a:off x="1069848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本月促成桌數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69848" y="27980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128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856232" y="29626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246120" y="307238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+18 ▲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941832" y="33832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獎金明細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06040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$24,800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941832" y="365760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AD6DC"/>
          </a:solidFill>
          <a:ln/>
        </p:spPr>
      </p:sp>
      <p:sp>
        <p:nvSpPr>
          <p:cNvPr id="20" name="Text 17"/>
          <p:cNvSpPr/>
          <p:nvPr/>
        </p:nvSpPr>
        <p:spPr>
          <a:xfrm>
            <a:off x="941832" y="365760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97864" y="36758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成桌獎金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88920" y="36758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16,000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41832" y="4041648"/>
            <a:ext cx="2596896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" y="4133088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EFE3DA"/>
          </a:solidFill>
          <a:ln/>
        </p:spPr>
      </p:sp>
      <p:sp>
        <p:nvSpPr>
          <p:cNvPr id="25" name="Text 22"/>
          <p:cNvSpPr/>
          <p:nvPr/>
        </p:nvSpPr>
        <p:spPr>
          <a:xfrm>
            <a:off x="941832" y="413308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97864" y="41513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回訪獎金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788920" y="415137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5,800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41832" y="4517136"/>
            <a:ext cx="2596896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41832" y="4608576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0EFEE"/>
          </a:solidFill>
          <a:ln/>
        </p:spPr>
      </p:sp>
      <p:sp>
        <p:nvSpPr>
          <p:cNvPr id="30" name="Text 27"/>
          <p:cNvSpPr/>
          <p:nvPr/>
        </p:nvSpPr>
        <p:spPr>
          <a:xfrm>
            <a:off x="941832" y="460857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97864" y="462686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帶新獎金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788920" y="462686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3,000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41832" y="4992624"/>
            <a:ext cx="2596896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41832" y="508406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E7EE"/>
          </a:solidFill>
          <a:ln/>
        </p:spPr>
      </p:sp>
      <p:sp>
        <p:nvSpPr>
          <p:cNvPr id="35" name="Text 32"/>
          <p:cNvSpPr/>
          <p:nvPr/>
        </p:nvSpPr>
        <p:spPr>
          <a:xfrm>
            <a:off x="941832" y="50840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197864" y="5102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代打津貼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788920" y="51023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1,600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77240" y="5724144"/>
            <a:ext cx="2926080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41832" y="5779008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40" name="Text 37"/>
          <p:cNvSpPr/>
          <p:nvPr/>
        </p:nvSpPr>
        <p:spPr>
          <a:xfrm>
            <a:off x="941832" y="5779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業績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600200" y="57790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缺桌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2258568" y="57790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2916936" y="57790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3977640" y="1828800"/>
            <a:ext cx="2926080" cy="42976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8E4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4142232" y="1938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142232" y="2103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519672" y="1993392"/>
            <a:ext cx="237744" cy="23774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48" name="Text 45"/>
          <p:cNvSpPr/>
          <p:nvPr/>
        </p:nvSpPr>
        <p:spPr>
          <a:xfrm>
            <a:off x="6519672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珍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4142232" y="2377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今日缺桌 · 等你揪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142232" y="2596896"/>
            <a:ext cx="2596896" cy="950976"/>
          </a:xfrm>
          <a:prstGeom prst="roundRect">
            <a:avLst>
              <a:gd name="adj" fmla="val 5769"/>
            </a:avLst>
          </a:prstGeom>
          <a:solidFill>
            <a:srgbClr val="FAD6DC"/>
          </a:solidFill>
          <a:ln/>
        </p:spPr>
      </p:sp>
      <p:sp>
        <p:nvSpPr>
          <p:cNvPr id="51" name="Text 48"/>
          <p:cNvSpPr/>
          <p:nvPr/>
        </p:nvSpPr>
        <p:spPr>
          <a:xfrm>
            <a:off x="4251960" y="2670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14:00 婦女場 · 差 1 咖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4251960" y="28712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已坐:美美·玉姨·阿芳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4251960" y="30358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建議:小婷(剛在線)·麗華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4142232" y="3218688"/>
            <a:ext cx="2596896" cy="256032"/>
          </a:xfrm>
          <a:prstGeom prst="roundRect">
            <a:avLst>
              <a:gd name="adj" fmla="val 50000"/>
            </a:avLst>
          </a:prstGeom>
          <a:solidFill>
            <a:srgbClr val="2E2B2C"/>
          </a:solidFill>
          <a:ln/>
        </p:spPr>
      </p:sp>
      <p:sp>
        <p:nvSpPr>
          <p:cNvPr id="55" name="Text 52"/>
          <p:cNvSpPr/>
          <p:nvPr/>
        </p:nvSpPr>
        <p:spPr>
          <a:xfrm>
            <a:off x="4142232" y="32186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一鍵揪人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142232" y="3602736"/>
            <a:ext cx="2596896" cy="822960"/>
          </a:xfrm>
          <a:prstGeom prst="roundRect">
            <a:avLst>
              <a:gd name="adj" fmla="val 6667"/>
            </a:avLst>
          </a:prstGeom>
          <a:solidFill>
            <a:srgbClr val="FFE7EE"/>
          </a:solidFill>
          <a:ln/>
        </p:spPr>
      </p:sp>
      <p:sp>
        <p:nvSpPr>
          <p:cNvPr id="57" name="Text 54"/>
          <p:cNvSpPr/>
          <p:nvPr/>
        </p:nvSpPr>
        <p:spPr>
          <a:xfrm>
            <a:off x="4251960" y="3675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19:30 晚場 · 差 2 咖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4251960" y="38770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從妳名下常打晚場客人推播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4142232" y="4151376"/>
            <a:ext cx="2596896" cy="219456"/>
          </a:xfrm>
          <a:prstGeom prst="roundRect">
            <a:avLst>
              <a:gd name="adj" fmla="val 50000"/>
            </a:avLst>
          </a:prstGeom>
          <a:solidFill>
            <a:srgbClr val="2E2B2C"/>
          </a:solidFill>
          <a:ln/>
        </p:spPr>
      </p:sp>
      <p:sp>
        <p:nvSpPr>
          <p:cNvPr id="60" name="Text 57"/>
          <p:cNvSpPr/>
          <p:nvPr/>
        </p:nvSpPr>
        <p:spPr>
          <a:xfrm>
            <a:off x="4142232" y="415137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一鍵揪人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4142232" y="4480560"/>
            <a:ext cx="2596896" cy="768096"/>
          </a:xfrm>
          <a:prstGeom prst="roundRect">
            <a:avLst>
              <a:gd name="adj" fmla="val 7143"/>
            </a:avLst>
          </a:prstGeom>
          <a:solidFill>
            <a:srgbClr val="F0EFEE"/>
          </a:solidFill>
          <a:ln/>
        </p:spPr>
      </p:sp>
      <p:sp>
        <p:nvSpPr>
          <p:cNvPr id="62" name="Text 59"/>
          <p:cNvSpPr/>
          <p:nvPr/>
        </p:nvSpPr>
        <p:spPr>
          <a:xfrm>
            <a:off x="4251960" y="45537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候補不足 · 代打補位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4251960" y="47365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本月代打 8 場 · 津貼 $1,600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4142232" y="4992624"/>
            <a:ext cx="2596896" cy="219456"/>
          </a:xfrm>
          <a:prstGeom prst="roundRect">
            <a:avLst>
              <a:gd name="adj" fmla="val 50000"/>
            </a:avLst>
          </a:prstGeom>
          <a:solidFill>
            <a:srgbClr val="DBC3B5"/>
          </a:solidFill>
          <a:ln/>
        </p:spPr>
      </p:sp>
      <p:sp>
        <p:nvSpPr>
          <p:cNvPr id="65" name="Text 62"/>
          <p:cNvSpPr/>
          <p:nvPr/>
        </p:nvSpPr>
        <p:spPr>
          <a:xfrm>
            <a:off x="4142232" y="49926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我來補位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3977640" y="5724144"/>
            <a:ext cx="2926080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142232" y="5779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業績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4727448" y="5779008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69" name="Text 66"/>
          <p:cNvSpPr/>
          <p:nvPr/>
        </p:nvSpPr>
        <p:spPr>
          <a:xfrm>
            <a:off x="4727448" y="5779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缺桌</a:t>
            </a:r>
            <a:endParaRPr lang="en-US" sz="700" dirty="0"/>
          </a:p>
        </p:txBody>
      </p:sp>
      <p:sp>
        <p:nvSpPr>
          <p:cNvPr id="70" name="Text 67"/>
          <p:cNvSpPr/>
          <p:nvPr/>
        </p:nvSpPr>
        <p:spPr>
          <a:xfrm>
            <a:off x="5385816" y="57790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044184" y="57790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7178040" y="1828800"/>
            <a:ext cx="2926080" cy="42976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6350">
            <a:solidFill>
              <a:srgbClr val="E8E4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3" name="Text 70"/>
          <p:cNvSpPr/>
          <p:nvPr/>
        </p:nvSpPr>
        <p:spPr>
          <a:xfrm>
            <a:off x="7342632" y="1938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9:41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7342632" y="2103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9720072" y="1993392"/>
            <a:ext cx="237744" cy="237744"/>
          </a:xfrm>
          <a:prstGeom prst="ellipse">
            <a:avLst/>
          </a:prstGeom>
          <a:solidFill>
            <a:srgbClr val="FAD6DC"/>
          </a:solidFill>
          <a:ln/>
        </p:spPr>
      </p:sp>
      <p:sp>
        <p:nvSpPr>
          <p:cNvPr id="76" name="Text 73"/>
          <p:cNvSpPr/>
          <p:nvPr/>
        </p:nvSpPr>
        <p:spPr>
          <a:xfrm>
            <a:off x="9720072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珍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342632" y="2377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我的客人 · 42 位</a:t>
            </a:r>
            <a:endParaRPr lang="en-US" sz="850" dirty="0"/>
          </a:p>
        </p:txBody>
      </p:sp>
      <p:sp>
        <p:nvSpPr>
          <p:cNvPr id="78" name="Text 75"/>
          <p:cNvSpPr/>
          <p:nvPr/>
        </p:nvSpPr>
        <p:spPr>
          <a:xfrm>
            <a:off x="8092440" y="2377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依「該關心」排序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7342632" y="26517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AD6DC"/>
          </a:solidFill>
          <a:ln/>
        </p:spPr>
      </p:sp>
      <p:sp>
        <p:nvSpPr>
          <p:cNvPr id="80" name="Text 77"/>
          <p:cNvSpPr/>
          <p:nvPr/>
        </p:nvSpPr>
        <p:spPr>
          <a:xfrm>
            <a:off x="7342632" y="26517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麗</a:t>
            </a:r>
            <a:endParaRPr lang="en-US" sz="800" dirty="0"/>
          </a:p>
        </p:txBody>
      </p:sp>
      <p:sp>
        <p:nvSpPr>
          <p:cNvPr id="81" name="Text 78"/>
          <p:cNvSpPr/>
          <p:nvPr/>
        </p:nvSpPr>
        <p:spPr>
          <a:xfrm>
            <a:off x="7598664" y="2651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麗華·焦糖布丁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7598664" y="28346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14天沒來</a:t>
            </a:r>
            <a:endParaRPr lang="en-US" sz="650" dirty="0"/>
          </a:p>
        </p:txBody>
      </p:sp>
      <p:sp>
        <p:nvSpPr>
          <p:cNvPr id="83" name="Shape 80"/>
          <p:cNvSpPr/>
          <p:nvPr/>
        </p:nvSpPr>
        <p:spPr>
          <a:xfrm>
            <a:off x="7598664" y="2980944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84" name="Text 81"/>
          <p:cNvSpPr/>
          <p:nvPr/>
        </p:nvSpPr>
        <p:spPr>
          <a:xfrm>
            <a:off x="7598664" y="298094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C260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流失風險</a:t>
            </a:r>
            <a:endParaRPr lang="en-US" sz="600" dirty="0"/>
          </a:p>
        </p:txBody>
      </p:sp>
      <p:sp>
        <p:nvSpPr>
          <p:cNvPr id="85" name="Shape 82"/>
          <p:cNvSpPr/>
          <p:nvPr/>
        </p:nvSpPr>
        <p:spPr>
          <a:xfrm>
            <a:off x="9144000" y="2688336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2E2B2C"/>
          </a:solidFill>
          <a:ln/>
        </p:spPr>
      </p:sp>
      <p:sp>
        <p:nvSpPr>
          <p:cNvPr id="86" name="Text 83"/>
          <p:cNvSpPr/>
          <p:nvPr/>
        </p:nvSpPr>
        <p:spPr>
          <a:xfrm>
            <a:off x="9144000" y="26883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關心一下</a:t>
            </a:r>
            <a:endParaRPr lang="en-US" sz="750" dirty="0"/>
          </a:p>
        </p:txBody>
      </p:sp>
      <p:sp>
        <p:nvSpPr>
          <p:cNvPr id="87" name="Shape 84"/>
          <p:cNvSpPr/>
          <p:nvPr/>
        </p:nvSpPr>
        <p:spPr>
          <a:xfrm>
            <a:off x="7342632" y="3218688"/>
            <a:ext cx="2596896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7342632" y="3310128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EFE3DA"/>
          </a:solidFill>
          <a:ln/>
        </p:spPr>
      </p:sp>
      <p:sp>
        <p:nvSpPr>
          <p:cNvPr id="89" name="Text 86"/>
          <p:cNvSpPr/>
          <p:nvPr/>
        </p:nvSpPr>
        <p:spPr>
          <a:xfrm>
            <a:off x="7342632" y="33101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</a:t>
            </a:r>
            <a:endParaRPr lang="en-US" sz="800" dirty="0"/>
          </a:p>
        </p:txBody>
      </p:sp>
      <p:sp>
        <p:nvSpPr>
          <p:cNvPr id="90" name="Text 87"/>
          <p:cNvSpPr/>
          <p:nvPr/>
        </p:nvSpPr>
        <p:spPr>
          <a:xfrm>
            <a:off x="7598664" y="3310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美美·提拉米蘇</a:t>
            </a:r>
            <a:endParaRPr lang="en-US" sz="800" dirty="0"/>
          </a:p>
        </p:txBody>
      </p:sp>
      <p:sp>
        <p:nvSpPr>
          <p:cNvPr id="91" name="Text 88"/>
          <p:cNvSpPr/>
          <p:nvPr/>
        </p:nvSpPr>
        <p:spPr>
          <a:xfrm>
            <a:off x="7598664" y="34930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後天生日</a:t>
            </a:r>
            <a:endParaRPr lang="en-US" sz="650" dirty="0"/>
          </a:p>
        </p:txBody>
      </p:sp>
      <p:sp>
        <p:nvSpPr>
          <p:cNvPr id="92" name="Shape 89"/>
          <p:cNvSpPr/>
          <p:nvPr/>
        </p:nvSpPr>
        <p:spPr>
          <a:xfrm>
            <a:off x="7598664" y="3639312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EFE3DA"/>
          </a:solidFill>
          <a:ln/>
        </p:spPr>
      </p:sp>
      <p:sp>
        <p:nvSpPr>
          <p:cNvPr id="93" name="Text 90"/>
          <p:cNvSpPr/>
          <p:nvPr/>
        </p:nvSpPr>
        <p:spPr>
          <a:xfrm>
            <a:off x="7598664" y="363931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A7E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生日</a:t>
            </a:r>
            <a:endParaRPr lang="en-US" sz="600" dirty="0"/>
          </a:p>
        </p:txBody>
      </p:sp>
      <p:sp>
        <p:nvSpPr>
          <p:cNvPr id="94" name="Shape 91"/>
          <p:cNvSpPr/>
          <p:nvPr/>
        </p:nvSpPr>
        <p:spPr>
          <a:xfrm>
            <a:off x="9144000" y="3346704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DBC3B5"/>
          </a:solidFill>
          <a:ln/>
        </p:spPr>
      </p:sp>
      <p:sp>
        <p:nvSpPr>
          <p:cNvPr id="95" name="Text 92"/>
          <p:cNvSpPr/>
          <p:nvPr/>
        </p:nvSpPr>
        <p:spPr>
          <a:xfrm>
            <a:off x="9144000" y="33467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送祝福</a:t>
            </a:r>
            <a:endParaRPr lang="en-US" sz="750" dirty="0"/>
          </a:p>
        </p:txBody>
      </p:sp>
      <p:sp>
        <p:nvSpPr>
          <p:cNvPr id="96" name="Shape 93"/>
          <p:cNvSpPr/>
          <p:nvPr/>
        </p:nvSpPr>
        <p:spPr>
          <a:xfrm>
            <a:off x="7342632" y="3877056"/>
            <a:ext cx="2596896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342632" y="3968496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0EFEE"/>
          </a:solidFill>
          <a:ln/>
        </p:spPr>
      </p:sp>
      <p:sp>
        <p:nvSpPr>
          <p:cNvPr id="98" name="Text 95"/>
          <p:cNvSpPr/>
          <p:nvPr/>
        </p:nvSpPr>
        <p:spPr>
          <a:xfrm>
            <a:off x="7342632" y="396849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</a:t>
            </a:r>
            <a:endParaRPr lang="en-US" sz="800" dirty="0"/>
          </a:p>
        </p:txBody>
      </p:sp>
      <p:sp>
        <p:nvSpPr>
          <p:cNvPr id="99" name="Text 96"/>
          <p:cNvSpPr/>
          <p:nvPr/>
        </p:nvSpPr>
        <p:spPr>
          <a:xfrm>
            <a:off x="7598664" y="3968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玉姨·焦糖布丁</a:t>
            </a:r>
            <a:endParaRPr lang="en-US" sz="800" dirty="0"/>
          </a:p>
        </p:txBody>
      </p:sp>
      <p:sp>
        <p:nvSpPr>
          <p:cNvPr id="100" name="Text 97"/>
          <p:cNvSpPr/>
          <p:nvPr/>
        </p:nvSpPr>
        <p:spPr>
          <a:xfrm>
            <a:off x="7598664" y="41513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現在在線·常打14:00場</a:t>
            </a:r>
            <a:endParaRPr lang="en-US" sz="650" dirty="0"/>
          </a:p>
        </p:txBody>
      </p:sp>
      <p:sp>
        <p:nvSpPr>
          <p:cNvPr id="101" name="Shape 98"/>
          <p:cNvSpPr/>
          <p:nvPr/>
        </p:nvSpPr>
        <p:spPr>
          <a:xfrm>
            <a:off x="7598664" y="4297680"/>
            <a:ext cx="402336" cy="146304"/>
          </a:xfrm>
          <a:prstGeom prst="roundRect">
            <a:avLst>
              <a:gd name="adj" fmla="val 50000"/>
            </a:avLst>
          </a:prstGeom>
          <a:solidFill>
            <a:srgbClr val="F0EFEE"/>
          </a:solidFill>
          <a:ln/>
        </p:spPr>
      </p:sp>
      <p:sp>
        <p:nvSpPr>
          <p:cNvPr id="102" name="Text 99"/>
          <p:cNvSpPr/>
          <p:nvPr/>
        </p:nvSpPr>
        <p:spPr>
          <a:xfrm>
            <a:off x="7598664" y="429768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在線</a:t>
            </a:r>
            <a:endParaRPr lang="en-US" sz="600" dirty="0"/>
          </a:p>
        </p:txBody>
      </p:sp>
      <p:sp>
        <p:nvSpPr>
          <p:cNvPr id="103" name="Shape 100"/>
          <p:cNvSpPr/>
          <p:nvPr/>
        </p:nvSpPr>
        <p:spPr>
          <a:xfrm>
            <a:off x="9144000" y="4005072"/>
            <a:ext cx="804672" cy="256032"/>
          </a:xfrm>
          <a:prstGeom prst="roundRect">
            <a:avLst>
              <a:gd name="adj" fmla="val 50000"/>
            </a:avLst>
          </a:prstGeom>
          <a:solidFill>
            <a:srgbClr val="2E2B2C"/>
          </a:solidFill>
          <a:ln/>
        </p:spPr>
      </p:sp>
      <p:sp>
        <p:nvSpPr>
          <p:cNvPr id="104" name="Text 101"/>
          <p:cNvSpPr/>
          <p:nvPr/>
        </p:nvSpPr>
        <p:spPr>
          <a:xfrm>
            <a:off x="9144000" y="40050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揪她入桌</a:t>
            </a:r>
            <a:endParaRPr lang="en-US" sz="750" dirty="0"/>
          </a:p>
        </p:txBody>
      </p:sp>
      <p:sp>
        <p:nvSpPr>
          <p:cNvPr id="105" name="Shape 102"/>
          <p:cNvSpPr/>
          <p:nvPr/>
        </p:nvSpPr>
        <p:spPr>
          <a:xfrm>
            <a:off x="7342632" y="4535424"/>
            <a:ext cx="2596896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342632" y="462686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0EFEE"/>
          </a:solidFill>
          <a:ln/>
        </p:spPr>
      </p:sp>
      <p:sp>
        <p:nvSpPr>
          <p:cNvPr id="107" name="Text 104"/>
          <p:cNvSpPr/>
          <p:nvPr/>
        </p:nvSpPr>
        <p:spPr>
          <a:xfrm>
            <a:off x="7342632" y="462686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淑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7598664" y="46268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淑芬·珍珠奶茶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7598664" y="48097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本週來 2 次·活躍</a:t>
            </a:r>
            <a:endParaRPr lang="en-US" sz="650" dirty="0"/>
          </a:p>
        </p:txBody>
      </p:sp>
      <p:sp>
        <p:nvSpPr>
          <p:cNvPr id="110" name="Text 107"/>
          <p:cNvSpPr/>
          <p:nvPr/>
        </p:nvSpPr>
        <p:spPr>
          <a:xfrm>
            <a:off x="9601200" y="47183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 ›</a:t>
            </a:r>
            <a:endParaRPr lang="en-US" sz="750" dirty="0"/>
          </a:p>
        </p:txBody>
      </p:sp>
      <p:sp>
        <p:nvSpPr>
          <p:cNvPr id="111" name="Shape 108"/>
          <p:cNvSpPr/>
          <p:nvPr/>
        </p:nvSpPr>
        <p:spPr>
          <a:xfrm>
            <a:off x="7342632" y="5193792"/>
            <a:ext cx="2596896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342632" y="528523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E7EE"/>
          </a:solidFill>
          <a:ln/>
        </p:spPr>
      </p:sp>
      <p:sp>
        <p:nvSpPr>
          <p:cNvPr id="113" name="Text 110"/>
          <p:cNvSpPr/>
          <p:nvPr/>
        </p:nvSpPr>
        <p:spPr>
          <a:xfrm>
            <a:off x="7342632" y="52852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雅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7598664" y="52852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雅婷·珍珠奶茶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7598664" y="54681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新客·再 1 次成常客</a:t>
            </a:r>
            <a:endParaRPr lang="en-US" sz="650" dirty="0"/>
          </a:p>
        </p:txBody>
      </p:sp>
      <p:sp>
        <p:nvSpPr>
          <p:cNvPr id="116" name="Text 113"/>
          <p:cNvSpPr/>
          <p:nvPr/>
        </p:nvSpPr>
        <p:spPr>
          <a:xfrm>
            <a:off x="9601200" y="53766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 ›</a:t>
            </a:r>
            <a:endParaRPr lang="en-US" sz="750" dirty="0"/>
          </a:p>
        </p:txBody>
      </p:sp>
      <p:sp>
        <p:nvSpPr>
          <p:cNvPr id="117" name="Shape 114"/>
          <p:cNvSpPr/>
          <p:nvPr/>
        </p:nvSpPr>
        <p:spPr>
          <a:xfrm>
            <a:off x="7178040" y="5724144"/>
            <a:ext cx="2926080" cy="0"/>
          </a:xfrm>
          <a:prstGeom prst="line">
            <a:avLst/>
          </a:prstGeom>
          <a:noFill/>
          <a:ln w="6350">
            <a:solidFill>
              <a:srgbClr val="F0EFEE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7342632" y="57790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業績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8001000" y="57790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缺桌</a:t>
            </a:r>
            <a:endParaRPr lang="en-US" sz="700" dirty="0"/>
          </a:p>
        </p:txBody>
      </p:sp>
      <p:sp>
        <p:nvSpPr>
          <p:cNvPr id="120" name="Shape 117"/>
          <p:cNvSpPr/>
          <p:nvPr/>
        </p:nvSpPr>
        <p:spPr>
          <a:xfrm>
            <a:off x="8586216" y="5779008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FAD6DC"/>
          </a:solidFill>
          <a:ln/>
        </p:spPr>
      </p:sp>
      <p:sp>
        <p:nvSpPr>
          <p:cNvPr id="121" name="Text 118"/>
          <p:cNvSpPr/>
          <p:nvPr/>
        </p:nvSpPr>
        <p:spPr>
          <a:xfrm>
            <a:off x="8586216" y="5779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2B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</a:t>
            </a:r>
            <a:endParaRPr lang="en-US" sz="700" dirty="0"/>
          </a:p>
        </p:txBody>
      </p:sp>
      <p:sp>
        <p:nvSpPr>
          <p:cNvPr id="122" name="Text 119"/>
          <p:cNvSpPr/>
          <p:nvPr/>
        </p:nvSpPr>
        <p:spPr>
          <a:xfrm>
            <a:off x="9244584" y="5779008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5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700" dirty="0"/>
          </a:p>
        </p:txBody>
      </p:sp>
      <p:sp>
        <p:nvSpPr>
          <p:cNvPr id="123" name="Text 120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業務型店員工作台:獎金即時可見 · 麻將牌圖標列表 · 客人智慧排序(流失›生日›在線›一般) · 一鍵揪人成桌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5029200" cy="5029200"/>
          </a:xfrm>
          <a:prstGeom prst="ellipse">
            <a:avLst/>
          </a:prstGeom>
          <a:solidFill>
            <a:srgbClr val="D7A0B2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114800" cy="4114800"/>
          </a:xfrm>
          <a:prstGeom prst="ellipse">
            <a:avLst/>
          </a:prstGeom>
          <a:solidFill>
            <a:srgbClr val="C3A6C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15000" y="1417320"/>
            <a:ext cx="731520" cy="731520"/>
          </a:xfrm>
          <a:prstGeom prst="ellipse">
            <a:avLst/>
          </a:prstGeom>
          <a:solidFill>
            <a:srgbClr val="D7A0B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934" y="15782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把麻將,變成一座看得見的競技場。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BD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資料是護城河,飛輪是引擎,第一家店是起點。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3A3A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MIGI 麻將連鎖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MIGI 麻將連鎖 — 事業概念簡報</dc:title>
  <dc:subject>PptxGenJS Presentation</dc:subject>
  <dc:creator>MIGI</dc:creator>
  <cp:lastModifiedBy>MIGI</cp:lastModifiedBy>
  <cp:revision>1</cp:revision>
  <dcterms:created xsi:type="dcterms:W3CDTF">2026-06-16T15:35:20Z</dcterms:created>
  <dcterms:modified xsi:type="dcterms:W3CDTF">2026-06-16T15:35:20Z</dcterms:modified>
</cp:coreProperties>
</file>